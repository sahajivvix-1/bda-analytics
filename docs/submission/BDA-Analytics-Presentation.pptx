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7.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0.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ceb452b-2eb0-1337-8fe7-6bef90f60801}">
          <p14:sldIdLst>
            <p14:sldId id="256"/>
            <p14:sldId id="257"/>
            <p14:sldId id="258"/>
          </p14:sldIdLst>
        </p14:section>
        <p14:section name="Data and architecture" id="{0858fff5-4f14-5182-46d2-fae9d78c7a48}">
          <p14:sldIdLst>
            <p14:sldId id="259"/>
            <p14:sldId id="260"/>
            <p14:sldId id="261"/>
          </p14:sldIdLst>
        </p14:section>
        <p14:section name="Big Data concepts" id="{431c99da-6e47-9daf-f1c1-007361d28d41}">
          <p14:sldIdLst>
            <p14:sldId id="262"/>
            <p14:sldId id="263"/>
          </p14:sldIdLst>
        </p14:section>
        <p14:section name="MongoDB platform" id="{8f1e8a6c-fc01-84e3-e850-7a4fa613d9f2}">
          <p14:sldIdLst>
            <p14:sldId id="264"/>
            <p14:sldId id="265"/>
            <p14:sldId id="266"/>
            <p14:sldId id="267"/>
          </p14:sldIdLst>
        </p14:section>
        <p14:section name="Analytics and NLP" id="{e03584a9-19b9-8c7a-d117-b8bd78784673}">
          <p14:sldIdLst>
            <p14:sldId id="268"/>
            <p14:sldId id="269"/>
            <p14:sldId id="270"/>
          </p14:sldIdLst>
        </p14:section>
        <p14:section name="Big Data Lab" id="{7a424682-67b6-c6c9-f790-fd44709159fc}">
          <p14:sldIdLst>
            <p14:sldId id="271"/>
            <p14:sldId id="272"/>
            <p14:sldId id="273"/>
            <p14:sldId id="274"/>
            <p14:sldId id="275"/>
            <p14:sldId id="276"/>
            <p14:sldId id="277"/>
            <p14:sldId id="278"/>
            <p14:sldId id="279"/>
          </p14:sldIdLst>
        </p14:section>
        <p14:section name="Conclusion" id="{98ca36ba-5302-d782-4d62-18f04c4d7b01}">
          <p14:sldIdLst>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Load time by collection size (seconds)</a:t>
            </a:r>
          </a:p>
        </c:rich>
      </c:tx>
      <c:layout/>
      <c:overlay val="0"/>
    </c:title>
    <c:autoTitleDeleted val="0"/>
    <c:plotArea>
      <c:layout/>
      <c:barChart>
        <c:barDir val="col"/>
        <c:grouping val="clustered"/>
        <c:varyColors val="0"/>
        <c:ser>
          <c:idx val="0"/>
          <c:order val="0"/>
          <c:tx>
            <c:strRef>
              <c:f>Sheet1!$B$1</c:f>
              <c:strCache>
                <c:ptCount val="1"/>
                <c:pt idx="0">
                  <c:v>Load time (s)</c:v>
                </c:pt>
              </c:strCache>
            </c:strRef>
          </c:tx>
          <c:spPr>
            <a:solidFill>
              <a:srgbClr val="0F4C5C"/>
            </a:solidFill>
            <a:effectLst/>
          </c:spPr>
          <c:invertIfNegative val="0"/>
          <c:dLbls>
            <c:numFmt formatCode="0.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Sheet1!$A$2:$A$5</c:f>
              <c:multiLvlStrCache>
                <c:ptCount val="4"/>
                <c:lvl>
                  <c:pt idx="0">
                    <c:v>100K</c:v>
                  </c:pt>
                  <c:pt idx="1">
                    <c:v>500K</c:v>
                  </c:pt>
                  <c:pt idx="2">
                    <c:v>1M</c:v>
                  </c:pt>
                  <c:pt idx="3">
                    <c:v>2.94M</c:v>
                  </c:pt>
                </c:lvl>
              </c:multiLvlStrCache>
            </c:multiLvlStrRef>
          </c:cat>
          <c:val>
            <c:numRef>
              <c:f>Sheet1!$B$2:$B$5</c:f>
              <c:numCache>
                <c:formatCode>General</c:formatCode>
                <c:ptCount val="4"/>
                <c:pt idx="0">
                  <c:v>9.1</c:v>
                </c:pt>
                <c:pt idx="1">
                  <c:v>42.3</c:v>
                </c:pt>
                <c:pt idx="2">
                  <c:v>91</c:v>
                </c:pt>
                <c:pt idx="3">
                  <c:v>297.1</c:v>
                </c:pt>
              </c:numCache>
            </c:numRef>
          </c:val>
        </c:ser>
        <c:dLbls>
          <c:numFmt formatCode="0.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5E1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Query time in milliseconds</a:t>
            </a:r>
          </a:p>
        </c:rich>
      </c:tx>
      <c:layout/>
      <c:overlay val="0"/>
    </c:title>
    <c:autoTitleDeleted val="0"/>
    <c:plotArea>
      <c:layout/>
      <c:barChart>
        <c:barDir val="bar"/>
        <c:grouping val="clustered"/>
        <c:varyColors val="0"/>
        <c:ser>
          <c:idx val="0"/>
          <c:order val="0"/>
          <c:tx>
            <c:strRef>
              <c:f>Sheet1!$B$1</c:f>
              <c:strCache>
                <c:ptCount val="1"/>
                <c:pt idx="0">
                  <c:v>Collection scan (ms)</c:v>
                </c:pt>
              </c:strCache>
            </c:strRef>
          </c:tx>
          <c:spPr>
            <a:solidFill>
              <a:srgbClr val="6B7280"/>
            </a:solidFill>
            <a:effectLst/>
          </c:spPr>
          <c:invertIfNegative val="0"/>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Sheet1!$A$2:$A$7</c:f>
              <c:multiLvlStrCache>
                <c:ptCount val="6"/>
                <c:lvl>
                  <c:pt idx="0">
                    <c:v>Negative posts, Oct 2016</c:v>
                  </c:pt>
                  <c:pt idx="1">
                    <c:v>One hashtag</c:v>
                  </c:pt>
                  <c:pt idx="2">
                    <c:v>Language + dates</c:v>
                  </c:pt>
                  <c:pt idx="3">
                    <c:v>Country + dates</c:v>
                  </c:pt>
                  <c:pt idx="4">
                    <c:v>Posts of one day</c:v>
                  </c:pt>
                  <c:pt idx="5">
                    <c:v>Latest 50 of an account</c:v>
                  </c:pt>
                </c:lvl>
              </c:multiLvlStrCache>
            </c:multiLvlStrRef>
          </c:cat>
          <c:val>
            <c:numRef>
              <c:f>Sheet1!$B$2:$B$7</c:f>
              <c:numCache>
                <c:formatCode>General</c:formatCode>
                <c:ptCount val="6"/>
                <c:pt idx="0">
                  <c:v>4955</c:v>
                </c:pt>
                <c:pt idx="1">
                  <c:v>3454</c:v>
                </c:pt>
                <c:pt idx="2">
                  <c:v>3412</c:v>
                </c:pt>
                <c:pt idx="3">
                  <c:v>3181</c:v>
                </c:pt>
                <c:pt idx="4">
                  <c:v>3394</c:v>
                </c:pt>
                <c:pt idx="5">
                  <c:v>3256</c:v>
                </c:pt>
              </c:numCache>
            </c:numRef>
          </c:val>
        </c:ser>
        <c:ser>
          <c:idx val="1"/>
          <c:order val="1"/>
          <c:tx>
            <c:strRef>
              <c:f>Sheet1!$C$1</c:f>
              <c:strCache>
                <c:ptCount val="1"/>
                <c:pt idx="0">
                  <c:v>With index (ms)</c:v>
                </c:pt>
              </c:strCache>
            </c:strRef>
          </c:tx>
          <c:spPr>
            <a:solidFill>
              <a:srgbClr val="C2410C"/>
            </a:solidFill>
            <a:effectLst/>
          </c:spPr>
          <c:invertIfNegative val="0"/>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Sheet1!$A$2:$A$7</c:f>
              <c:multiLvlStrCache>
                <c:ptCount val="6"/>
                <c:lvl>
                  <c:pt idx="0">
                    <c:v>Negative posts, Oct 2016</c:v>
                  </c:pt>
                  <c:pt idx="1">
                    <c:v>One hashtag</c:v>
                  </c:pt>
                  <c:pt idx="2">
                    <c:v>Language + dates</c:v>
                  </c:pt>
                  <c:pt idx="3">
                    <c:v>Country + dates</c:v>
                  </c:pt>
                  <c:pt idx="4">
                    <c:v>Posts of one day</c:v>
                  </c:pt>
                  <c:pt idx="5">
                    <c:v>Latest 50 of an account</c:v>
                  </c:pt>
                </c:lvl>
              </c:multiLvlStrCache>
            </c:multiLvlStrRef>
          </c:cat>
          <c:val>
            <c:numRef>
              <c:f>Sheet1!$C$2:$C$7</c:f>
              <c:numCache>
                <c:formatCode>General</c:formatCode>
                <c:ptCount val="6"/>
                <c:pt idx="0">
                  <c:v>201</c:v>
                </c:pt>
                <c:pt idx="1">
                  <c:v>64</c:v>
                </c:pt>
                <c:pt idx="2">
                  <c:v>122</c:v>
                </c:pt>
                <c:pt idx="3">
                  <c:v>72</c:v>
                </c:pt>
                <c:pt idx="4">
                  <c:v>22</c:v>
                </c:pt>
                <c:pt idx="5">
                  <c:v>1</c:v>
                </c:pt>
              </c:numCache>
            </c:numRef>
          </c:val>
        </c:ser>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5E1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Dashboard query time in seconds</a:t>
            </a:r>
          </a:p>
        </c:rich>
      </c:tx>
      <c:layout/>
      <c:overlay val="0"/>
    </c:title>
    <c:autoTitleDeleted val="0"/>
    <c:plotArea>
      <c:layout/>
      <c:barChart>
        <c:barDir val="col"/>
        <c:grouping val="clustered"/>
        <c:varyColors val="0"/>
        <c:ser>
          <c:idx val="0"/>
          <c:order val="0"/>
          <c:tx>
            <c:strRef>
              <c:f>Sheet1!$B$1</c:f>
              <c:strCache>
                <c:ptCount val="1"/>
                <c:pt idx="0">
                  <c:v>Live on posts (s)</c:v>
                </c:pt>
              </c:strCache>
            </c:strRef>
          </c:tx>
          <c:spPr>
            <a:solidFill>
              <a:srgbClr val="6B7280"/>
            </a:solidFill>
            <a:effectLst/>
          </c:spPr>
          <c:invertIfNegative val="0"/>
          <c:dLbls>
            <c:numFmt formatCode="0.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Overview KPIs</c:v>
                  </c:pt>
                  <c:pt idx="1">
                    <c:v>Sentiment page</c:v>
                  </c:pt>
                  <c:pt idx="2">
                    <c:v>Topics page</c:v>
                  </c:pt>
                  <c:pt idx="3">
                    <c:v>Geography page</c:v>
                  </c:pt>
                  <c:pt idx="4">
                    <c:v>Overview, EN 2016</c:v>
                  </c:pt>
                </c:lvl>
              </c:multiLvlStrCache>
            </c:multiLvlStrRef>
          </c:cat>
          <c:val>
            <c:numRef>
              <c:f>Sheet1!$B$2:$B$6</c:f>
              <c:numCache>
                <c:formatCode>General</c:formatCode>
                <c:ptCount val="5"/>
                <c:pt idx="0">
                  <c:v>33.7</c:v>
                </c:pt>
                <c:pt idx="1">
                  <c:v>31.5</c:v>
                </c:pt>
                <c:pt idx="2">
                  <c:v>36.7</c:v>
                </c:pt>
                <c:pt idx="3">
                  <c:v>25.6</c:v>
                </c:pt>
                <c:pt idx="4">
                  <c:v>14.4</c:v>
                </c:pt>
              </c:numCache>
            </c:numRef>
          </c:val>
        </c:ser>
        <c:ser>
          <c:idx val="1"/>
          <c:order val="1"/>
          <c:tx>
            <c:strRef>
              <c:f>Sheet1!$C$1</c:f>
              <c:strCache>
                <c:ptCount val="1"/>
                <c:pt idx="0">
                  <c:v>From rollup (s)</c:v>
                </c:pt>
              </c:strCache>
            </c:strRef>
          </c:tx>
          <c:spPr>
            <a:solidFill>
              <a:srgbClr val="2A9D8F"/>
            </a:solidFill>
            <a:effectLst/>
          </c:spPr>
          <c:invertIfNegative val="0"/>
          <c:dLbls>
            <c:numFmt formatCode="0.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Overview KPIs</c:v>
                  </c:pt>
                  <c:pt idx="1">
                    <c:v>Sentiment page</c:v>
                  </c:pt>
                  <c:pt idx="2">
                    <c:v>Topics page</c:v>
                  </c:pt>
                  <c:pt idx="3">
                    <c:v>Geography page</c:v>
                  </c:pt>
                  <c:pt idx="4">
                    <c:v>Overview, EN 2016</c:v>
                  </c:pt>
                </c:lvl>
              </c:multiLvlStrCache>
            </c:multiLvlStrRef>
          </c:cat>
          <c:val>
            <c:numRef>
              <c:f>Sheet1!$C$2:$C$6</c:f>
              <c:numCache>
                <c:formatCode>General</c:formatCode>
                <c:ptCount val="5"/>
                <c:pt idx="0">
                  <c:v>0.96</c:v>
                </c:pt>
                <c:pt idx="1">
                  <c:v>0.87</c:v>
                </c:pt>
                <c:pt idx="2">
                  <c:v>0.83</c:v>
                </c:pt>
                <c:pt idx="3">
                  <c:v>0.69</c:v>
                </c:pt>
                <c:pt idx="4">
                  <c:v>0.42</c:v>
                </c:pt>
              </c:numCache>
            </c:numRef>
          </c:val>
        </c:ser>
        <c:dLbls>
          <c:numFmt formatCode="0.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5E1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TweetEval test macro-F1 (12,284 tweets)</a:t>
            </a:r>
          </a:p>
        </c:rich>
      </c:tx>
      <c:layout/>
      <c:overlay val="0"/>
    </c:title>
    <c:autoTitleDeleted val="0"/>
    <c:plotArea>
      <c:layout/>
      <c:barChart>
        <c:barDir val="col"/>
        <c:grouping val="clustered"/>
        <c:varyColors val="0"/>
        <c:ser>
          <c:idx val="0"/>
          <c:order val="0"/>
          <c:tx>
            <c:strRef>
              <c:f>Sheet1!$B$1</c:f>
              <c:strCache>
                <c:ptCount val="1"/>
                <c:pt idx="0">
                  <c:v>Test macro-F1</c:v>
                </c:pt>
              </c:strCache>
            </c:strRef>
          </c:tx>
          <c:spPr>
            <a:solidFill>
              <a:srgbClr val="6B7280"/>
            </a:solidFill>
            <a:effectLst/>
          </c:spPr>
          <c:invertIfNegative val="0"/>
          <c:dLbls>
            <c:numFmt formatCode="0.00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6B7280"/>
              </a:solidFill>
              <a:effectLst/>
            </c:spPr>
          </c:dPt>
          <c:dPt>
            <c:idx val="1"/>
            <c:invertIfNegative val="0"/>
            <c:bubble3D val="0"/>
            <c:spPr>
              <a:solidFill>
                <a:srgbClr val="6B7280"/>
              </a:solidFill>
              <a:effectLst/>
            </c:spPr>
          </c:dPt>
          <c:dPt>
            <c:idx val="2"/>
            <c:invertIfNegative val="0"/>
            <c:bubble3D val="0"/>
            <c:spPr>
              <a:solidFill>
                <a:srgbClr val="C2410C"/>
              </a:solidFill>
              <a:effectLst/>
            </c:spPr>
          </c:dPt>
          <c:cat>
            <c:multiLvlStrRef>
              <c:f>Sheet1!$A$2:$A$4</c:f>
              <c:multiLvlStrCache>
                <c:ptCount val="3"/>
                <c:lvl>
                  <c:pt idx="0">
                    <c:v>VADER</c:v>
                  </c:pt>
                  <c:pt idx="1">
                    <c:v>TF-IDF + Naive Bayes</c:v>
                  </c:pt>
                  <c:pt idx="2">
                    <c:v>TF-IDF + Logistic regression</c:v>
                  </c:pt>
                </c:lvl>
              </c:multiLvlStrCache>
            </c:multiLvlStrRef>
          </c:cat>
          <c:val>
            <c:numRef>
              <c:f>Sheet1!$B$2:$B$4</c:f>
              <c:numCache>
                <c:formatCode>General</c:formatCode>
                <c:ptCount val="3"/>
                <c:pt idx="0">
                  <c:v>0.526</c:v>
                </c:pt>
                <c:pt idx="1">
                  <c:v>0.455</c:v>
                </c:pt>
                <c:pt idx="2">
                  <c:v>0.582</c:v>
                </c:pt>
              </c:numCache>
            </c:numRef>
          </c:val>
        </c:ser>
        <c:dLbls>
          <c:numFmt formatCode="0.00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0.7"/>
          <c:min val="0"/>
        </c:scaling>
        <c:delete val="1"/>
        <c:axPos val="l"/>
        <c:majorGridlines>
          <c:spPr>
            <a:ln w="6350" cap="flat">
              <a:solidFill>
                <a:srgbClr val="E5E1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Predicted on 2,111,943 English posts</a:t>
            </a:r>
          </a:p>
        </c:rich>
      </c:tx>
      <c:layout/>
      <c:overlay val="0"/>
    </c:title>
    <c:autoTitleDeleted val="0"/>
    <c:plotArea>
      <c:layout/>
      <c:doughnutChart>
        <c:varyColors val="1"/>
        <c:ser>
          <c:idx val="0"/>
          <c:order val="0"/>
          <c:tx>
            <c:strRef>
              <c:f>Sheet1!$B$1</c:f>
              <c:strCache>
                <c:ptCount val="1"/>
                <c:pt idx="0">
                  <c:v>Predicted sentiment</c:v>
                </c:pt>
              </c:strCache>
            </c:strRef>
          </c:tx>
          <c:spPr>
            <a:solidFill>
              <a:schemeClr val="accent1"/>
            </a:solidFill>
            <a:ln w="9525" cap="flat">
              <a:solidFill>
                <a:srgbClr val="F9F9F9"/>
              </a:solidFill>
              <a:prstDash val="solid"/>
              <a:round/>
            </a:ln>
            <a:effectLst/>
          </c:spPr>
          <c:dPt>
            <c:idx val="0"/>
            <c:bubble3D val="0"/>
            <c:spPr>
              <a:solidFill>
                <a:srgbClr val="2A9D8F"/>
              </a:solidFill>
              <a:effectLst/>
            </c:spPr>
          </c:dPt>
          <c:dPt>
            <c:idx val="1"/>
            <c:bubble3D val="0"/>
            <c:spPr>
              <a:solidFill>
                <a:srgbClr val="B8B2A6"/>
              </a:solidFill>
              <a:effectLst/>
            </c:spPr>
          </c:dPt>
          <c:dPt>
            <c:idx val="2"/>
            <c:bubble3D val="0"/>
            <c:spPr>
              <a:solidFill>
                <a:srgbClr val="C2410C"/>
              </a:solidFill>
              <a:effectLst/>
            </c:spPr>
          </c:dPt>
          <c:dLbls>
            <c:dLbl>
              <c:idx val="0"/>
              <c:numFmt formatCode="0.0&quot;%&quot;"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dLbl>
              <c:idx val="1"/>
              <c:numFmt formatCode="0.0&quot;%&quot;"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dLbl>
              <c:idx val="2"/>
              <c:numFmt formatCode="0.0&quot;%&quot;"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numFmt formatCode="0.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Positive</c:v>
                </c:pt>
                <c:pt idx="1">
                  <c:v>Neutral</c:v>
                </c:pt>
                <c:pt idx="2">
                  <c:v>Negative</c:v>
                </c:pt>
              </c:strCache>
            </c:strRef>
          </c:cat>
          <c:val>
            <c:numRef>
              <c:f>Sheet1!$B$2:$B$4</c:f>
              <c:numCache>
                <c:ptCount val="3"/>
                <c:pt idx="0">
                  <c:v>16.8</c:v>
                </c:pt>
                <c:pt idx="1">
                  <c:v>52</c:v>
                </c:pt>
                <c:pt idx="2">
                  <c:v>31.2</c:v>
                </c:pt>
              </c:numCache>
            </c:numRef>
          </c:val>
        </c:ser>
        <c:firstSliceAng val="0"/>
        <c:holeSize val="55"/>
      </c:doughnutChart>
      <c:spPr>
        <a:noFill/>
        <a:ln>
          <a:noFill/>
        </a:ln>
        <a:effectLst/>
      </c:spPr>
    </c:plotArea>
    <c:legend>
      <c:legendPos val="r"/>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Model speed on 20,000 English posts (texts/s)</a:t>
            </a:r>
          </a:p>
        </c:rich>
      </c:tx>
      <c:layout/>
      <c:overlay val="0"/>
    </c:title>
    <c:autoTitleDeleted val="0"/>
    <c:plotArea>
      <c:layout/>
      <c:barChart>
        <c:barDir val="bar"/>
        <c:grouping val="clustered"/>
        <c:varyColors val="0"/>
        <c:ser>
          <c:idx val="0"/>
          <c:order val="0"/>
          <c:tx>
            <c:strRef>
              <c:f>Sheet1!$B$1</c:f>
              <c:strCache>
                <c:ptCount val="1"/>
                <c:pt idx="0">
                  <c:v>texts/s</c:v>
                </c:pt>
              </c:strCache>
            </c:strRef>
          </c:tx>
          <c:spPr>
            <a:solidFill>
              <a:srgbClr val="0F4C5C"/>
            </a:solidFill>
            <a:effectLst/>
          </c:spPr>
          <c:invertIfNegative val="0"/>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Logistic regression</c:v>
                  </c:pt>
                  <c:pt idx="1">
                    <c:v>VADER</c:v>
                  </c:pt>
                  <c:pt idx="2">
                    <c:v>NMF topics + keywords</c:v>
                  </c:pt>
                </c:lvl>
              </c:multiLvlStrCache>
            </c:multiLvlStrRef>
          </c:cat>
          <c:val>
            <c:numRef>
              <c:f>Sheet1!$B$2:$B$4</c:f>
              <c:numCache>
                <c:formatCode>General</c:formatCode>
                <c:ptCount val="3"/>
                <c:pt idx="0">
                  <c:v>24067</c:v>
                </c:pt>
                <c:pt idx="1">
                  <c:v>17767</c:v>
                </c:pt>
                <c:pt idx="2">
                  <c:v>25677</c:v>
                </c:pt>
              </c:numCache>
            </c:numRef>
          </c:val>
        </c:ser>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5E1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Time per stage</a:t>
            </a:r>
          </a:p>
        </c:rich>
      </c:tx>
      <c:layout/>
      <c:overlay val="0"/>
    </c:title>
    <c:autoTitleDeleted val="0"/>
    <c:plotArea>
      <c:layout/>
      <c:barChart>
        <c:barDir val="bar"/>
        <c:grouping val="clustered"/>
        <c:varyColors val="0"/>
        <c:ser>
          <c:idx val="0"/>
          <c:order val="0"/>
          <c:tx>
            <c:strRef>
              <c:f>Sheet1!$B$1</c:f>
              <c:strCache>
                <c:ptCount val="1"/>
                <c:pt idx="0">
                  <c:v>Seconds</c:v>
                </c:pt>
              </c:strCache>
            </c:strRef>
          </c:tx>
          <c:spPr>
            <a:solidFill>
              <a:srgbClr val="C2410C"/>
            </a:solidFill>
            <a:effectLst/>
          </c:spPr>
          <c:invertIfNegative val="0"/>
          <c:dLbls>
            <c:numFmt formatCode="0.0&quot; s&quot;"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Sheet1!$A$2:$A$5</c:f>
              <c:multiLvlStrCache>
                <c:ptCount val="4"/>
                <c:lvl>
                  <c:pt idx="0">
                    <c:v>Bronze (CSV → Parquet)</c:v>
                  </c:pt>
                  <c:pt idx="1">
                    <c:v>Validate</c:v>
                  </c:pt>
                  <c:pt idx="2">
                    <c:v>Silver (clean + dedupe)</c:v>
                  </c:pt>
                  <c:pt idx="3">
                    <c:v>Gold (aggregates)</c:v>
                  </c:pt>
                </c:lvl>
              </c:multiLvlStrCache>
            </c:multiLvlStrRef>
          </c:cat>
          <c:val>
            <c:numRef>
              <c:f>Sheet1!$B$2:$B$5</c:f>
              <c:numCache>
                <c:formatCode>General</c:formatCode>
                <c:ptCount val="4"/>
                <c:pt idx="0">
                  <c:v>37.7</c:v>
                </c:pt>
                <c:pt idx="1">
                  <c:v>3.7</c:v>
                </c:pt>
                <c:pt idx="2">
                  <c:v>92.2</c:v>
                </c:pt>
                <c:pt idx="3">
                  <c:v>12.4</c:v>
                </c:pt>
              </c:numCache>
            </c:numRef>
          </c:val>
        </c:ser>
        <c:dLbls>
          <c:numFmt formatCode="0.0&quot; s&quot;"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5E1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Speed-up over one core</a:t>
            </a:r>
          </a:p>
        </c:rich>
      </c:tx>
      <c:layout/>
      <c:overlay val="0"/>
    </c:title>
    <c:autoTitleDeleted val="0"/>
    <c:plotArea>
      <c:layout/>
      <c:barChart>
        <c:barDir val="col"/>
        <c:grouping val="clustered"/>
        <c:varyColors val="0"/>
        <c:ser>
          <c:idx val="0"/>
          <c:order val="0"/>
          <c:tx>
            <c:strRef>
              <c:f>Sheet1!$B$1</c:f>
              <c:strCache>
                <c:ptCount val="1"/>
                <c:pt idx="0">
                  <c:v>Measured speed-up</c:v>
                </c:pt>
              </c:strCache>
            </c:strRef>
          </c:tx>
          <c:spPr>
            <a:solidFill>
              <a:srgbClr val="C2410C"/>
            </a:solidFill>
            <a:effectLst/>
          </c:spPr>
          <c:invertIfNegative val="0"/>
          <c:dLbls>
            <c:numFmt formatCode="0.00&quot;×&quot;"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1 core</c:v>
                  </c:pt>
                  <c:pt idx="1">
                    <c:v>2 cores</c:v>
                  </c:pt>
                  <c:pt idx="2">
                    <c:v>4 cores</c:v>
                  </c:pt>
                </c:lvl>
              </c:multiLvlStrCache>
            </c:multiLvlStrRef>
          </c:cat>
          <c:val>
            <c:numRef>
              <c:f>Sheet1!$B$2:$B$4</c:f>
              <c:numCache>
                <c:formatCode>General</c:formatCode>
                <c:ptCount val="3"/>
                <c:pt idx="0">
                  <c:v>1</c:v>
                </c:pt>
                <c:pt idx="1">
                  <c:v>1.84</c:v>
                </c:pt>
                <c:pt idx="2">
                  <c:v>2.48</c:v>
                </c:pt>
              </c:numCache>
            </c:numRef>
          </c:val>
        </c:ser>
        <c:ser>
          <c:idx val="1"/>
          <c:order val="1"/>
          <c:tx>
            <c:strRef>
              <c:f>Sheet1!$C$1</c:f>
              <c:strCache>
                <c:ptCount val="1"/>
                <c:pt idx="0">
                  <c:v>Ideal</c:v>
                </c:pt>
              </c:strCache>
            </c:strRef>
          </c:tx>
          <c:spPr>
            <a:solidFill>
              <a:srgbClr val="D9D4C7"/>
            </a:solidFill>
            <a:effectLst/>
          </c:spPr>
          <c:invertIfNegative val="0"/>
          <c:dLbls>
            <c:numFmt formatCode="0.00&quot;×&quot;"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1 core</c:v>
                  </c:pt>
                  <c:pt idx="1">
                    <c:v>2 cores</c:v>
                  </c:pt>
                  <c:pt idx="2">
                    <c:v>4 cores</c:v>
                  </c:pt>
                </c:lvl>
              </c:multiLvlStrCache>
            </c:multiLvlStrRef>
          </c:cat>
          <c:val>
            <c:numRef>
              <c:f>Sheet1!$C$2:$C$4</c:f>
              <c:numCache>
                <c:formatCode>General</c:formatCode>
                <c:ptCount val="3"/>
                <c:pt idx="0">
                  <c:v>1</c:v>
                </c:pt>
                <c:pt idx="1">
                  <c:v>2</c:v>
                </c:pt>
                <c:pt idx="2">
                  <c:v>4</c:v>
                </c:pt>
              </c:numCache>
            </c:numRef>
          </c:val>
        </c:ser>
        <c:dLbls>
          <c:numFmt formatCode="0.00&quot;×&quot;"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5E1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Throughput at 4 cores (rows/s)</a:t>
            </a:r>
          </a:p>
        </c:rich>
      </c:tx>
      <c:layout/>
      <c:overlay val="0"/>
    </c:title>
    <c:autoTitleDeleted val="0"/>
    <c:plotArea>
      <c:layout/>
      <c:barChart>
        <c:barDir val="bar"/>
        <c:grouping val="clustered"/>
        <c:varyColors val="0"/>
        <c:ser>
          <c:idx val="0"/>
          <c:order val="0"/>
          <c:tx>
            <c:strRef>
              <c:f>Sheet1!$B$1</c:f>
              <c:strCache>
                <c:ptCount val="1"/>
                <c:pt idx="0">
                  <c:v>rows/s</c:v>
                </c:pt>
              </c:strCache>
            </c:strRef>
          </c:tx>
          <c:spPr>
            <a:solidFill>
              <a:srgbClr val="2A9D8F"/>
            </a:solidFill>
            <a:effectLst/>
          </c:spPr>
          <c:invertIfNegative val="0"/>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Sheet1!$A$2:$A$3</c:f>
              <c:multiLvlStrCache>
                <c:ptCount val="2"/>
                <c:lvl>
                  <c:pt idx="0">
                    <c:v>100K rows</c:v>
                  </c:pt>
                  <c:pt idx="1">
                    <c:v>2.94M rows</c:v>
                  </c:pt>
                </c:lvl>
              </c:multiLvlStrCache>
            </c:multiLvlStrRef>
          </c:cat>
          <c:val>
            <c:numRef>
              <c:f>Sheet1!$B$2:$B$3</c:f>
              <c:numCache>
                <c:formatCode>General</c:formatCode>
                <c:ptCount val="2"/>
                <c:pt idx="0">
                  <c:v>4840</c:v>
                </c:pt>
                <c:pt idx="1">
                  <c:v>26185</c:v>
                </c:pt>
              </c:numCache>
            </c:numRef>
          </c:val>
        </c:ser>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5E1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Size on disk (MB)</a:t>
            </a:r>
          </a:p>
        </c:rich>
      </c:tx>
      <c:layout/>
      <c:overlay val="0"/>
    </c:title>
    <c:autoTitleDeleted val="0"/>
    <c:plotArea>
      <c:layout/>
      <c:barChart>
        <c:barDir val="col"/>
        <c:grouping val="clustered"/>
        <c:varyColors val="0"/>
        <c:ser>
          <c:idx val="0"/>
          <c:order val="0"/>
          <c:tx>
            <c:strRef>
              <c:f>Sheet1!$B$1</c:f>
              <c:strCache>
                <c:ptCount val="1"/>
                <c:pt idx="0">
                  <c:v>MB</c:v>
                </c:pt>
              </c:strCache>
            </c:strRef>
          </c:tx>
          <c:spPr>
            <a:solidFill>
              <a:srgbClr val="0F4C5C"/>
            </a:solidFill>
            <a:effectLst/>
          </c:spPr>
          <c:invertIfNegative val="0"/>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Sheet1!$A$2:$A$5</c:f>
              <c:multiLvlStrCache>
                <c:ptCount val="4"/>
                <c:lvl>
                  <c:pt idx="0">
                    <c:v>Raw CSV</c:v>
                  </c:pt>
                  <c:pt idx="1">
                    <c:v>Bronze</c:v>
                  </c:pt>
                  <c:pt idx="2">
                    <c:v>Silver</c:v>
                  </c:pt>
                  <c:pt idx="3">
                    <c:v>Gold</c:v>
                  </c:pt>
                </c:lvl>
              </c:multiLvlStrCache>
            </c:multiLvlStrRef>
          </c:cat>
          <c:val>
            <c:numRef>
              <c:f>Sheet1!$B$2:$B$5</c:f>
              <c:numCache>
                <c:formatCode>General</c:formatCode>
                <c:ptCount val="4"/>
                <c:pt idx="0">
                  <c:v>1140</c:v>
                </c:pt>
                <c:pt idx="1">
                  <c:v>546</c:v>
                </c:pt>
                <c:pt idx="2">
                  <c:v>498</c:v>
                </c:pt>
                <c:pt idx="3">
                  <c:v>5.8</c:v>
                </c:pt>
              </c:numCache>
            </c:numRef>
          </c:val>
        </c:ser>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5E1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Silver table size by format (MB)</a:t>
            </a:r>
          </a:p>
        </c:rich>
      </c:tx>
      <c:layout/>
      <c:overlay val="0"/>
    </c:title>
    <c:autoTitleDeleted val="0"/>
    <c:plotArea>
      <c:layout/>
      <c:barChart>
        <c:barDir val="bar"/>
        <c:grouping val="clustered"/>
        <c:varyColors val="0"/>
        <c:ser>
          <c:idx val="0"/>
          <c:order val="0"/>
          <c:tx>
            <c:strRef>
              <c:f>Sheet1!$B$1</c:f>
              <c:strCache>
                <c:ptCount val="1"/>
                <c:pt idx="0">
                  <c:v>MB</c:v>
                </c:pt>
              </c:strCache>
            </c:strRef>
          </c:tx>
          <c:spPr>
            <a:solidFill>
              <a:srgbClr val="0F4C5C"/>
            </a:solidFill>
            <a:effectLst/>
          </c:spPr>
          <c:invertIfNegative val="0"/>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JSON</c:v>
                  </c:pt>
                  <c:pt idx="1">
                    <c:v>Parquet (none)</c:v>
                  </c:pt>
                  <c:pt idx="2">
                    <c:v>Parquet snappy</c:v>
                  </c:pt>
                  <c:pt idx="3">
                    <c:v>Parquet gzip</c:v>
                  </c:pt>
                  <c:pt idx="4">
                    <c:v>Parquet zstd</c:v>
                  </c:pt>
                </c:lvl>
              </c:multiLvlStrCache>
            </c:multiLvlStrRef>
          </c:cat>
          <c:val>
            <c:numRef>
              <c:f>Sheet1!$B$2:$B$6</c:f>
              <c:numCache>
                <c:formatCode>General</c:formatCode>
                <c:ptCount val="5"/>
                <c:pt idx="0">
                  <c:v>1834</c:v>
                </c:pt>
                <c:pt idx="1">
                  <c:v>735</c:v>
                </c:pt>
                <c:pt idx="2">
                  <c:v>503</c:v>
                </c:pt>
                <c:pt idx="3">
                  <c:v>337</c:v>
                </c:pt>
                <c:pt idx="4">
                  <c:v>319</c:v>
                </c:pt>
              </c:numCache>
            </c:numRef>
          </c:val>
        </c:ser>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5E1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Query time (s)</a:t>
            </a:r>
          </a:p>
        </c:rich>
      </c:tx>
      <c:layout/>
      <c:overlay val="0"/>
    </c:title>
    <c:autoTitleDeleted val="0"/>
    <c:plotArea>
      <c:layout/>
      <c:barChart>
        <c:barDir val="col"/>
        <c:grouping val="clustered"/>
        <c:varyColors val="0"/>
        <c:ser>
          <c:idx val="0"/>
          <c:order val="0"/>
          <c:tx>
            <c:strRef>
              <c:f>Sheet1!$B$1</c:f>
              <c:strCache>
                <c:ptCount val="1"/>
                <c:pt idx="0">
                  <c:v>CSV</c:v>
                </c:pt>
              </c:strCache>
            </c:strRef>
          </c:tx>
          <c:spPr>
            <a:solidFill>
              <a:srgbClr val="6B7280"/>
            </a:solidFill>
            <a:effectLst/>
          </c:spPr>
          <c:invertIfNegative val="0"/>
          <c:dLbls>
            <c:numFmt formatCode="0.0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Sheet1!$A$2:$A$3</c:f>
              <c:multiLvlStrCache>
                <c:ptCount val="2"/>
                <c:lvl>
                  <c:pt idx="0">
                    <c:v>One month</c:v>
                  </c:pt>
                  <c:pt idx="1">
                    <c:v>Top hashtags 2016</c:v>
                  </c:pt>
                </c:lvl>
              </c:multiLvlStrCache>
            </c:multiLvlStrRef>
          </c:cat>
          <c:val>
            <c:numRef>
              <c:f>Sheet1!$B$2:$B$3</c:f>
              <c:numCache>
                <c:formatCode>General</c:formatCode>
                <c:ptCount val="2"/>
                <c:pt idx="0">
                  <c:v>3.51</c:v>
                </c:pt>
                <c:pt idx="1">
                  <c:v>5.02</c:v>
                </c:pt>
              </c:numCache>
            </c:numRef>
          </c:val>
        </c:ser>
        <c:ser>
          <c:idx val="1"/>
          <c:order val="1"/>
          <c:tx>
            <c:strRef>
              <c:f>Sheet1!$C$1</c:f>
              <c:strCache>
                <c:ptCount val="1"/>
                <c:pt idx="0">
                  <c:v>Parquet</c:v>
                </c:pt>
              </c:strCache>
            </c:strRef>
          </c:tx>
          <c:spPr>
            <a:solidFill>
              <a:srgbClr val="2A9D8F"/>
            </a:solidFill>
            <a:effectLst/>
          </c:spPr>
          <c:invertIfNegative val="0"/>
          <c:dLbls>
            <c:numFmt formatCode="0.0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Sheet1!$A$2:$A$3</c:f>
              <c:multiLvlStrCache>
                <c:ptCount val="2"/>
                <c:lvl>
                  <c:pt idx="0">
                    <c:v>One month</c:v>
                  </c:pt>
                  <c:pt idx="1">
                    <c:v>Top hashtags 2016</c:v>
                  </c:pt>
                </c:lvl>
              </c:multiLvlStrCache>
            </c:multiLvlStrRef>
          </c:cat>
          <c:val>
            <c:numRef>
              <c:f>Sheet1!$C$2:$C$3</c:f>
              <c:numCache>
                <c:formatCode>General</c:formatCode>
                <c:ptCount val="2"/>
                <c:pt idx="0">
                  <c:v>1.01</c:v>
                </c:pt>
                <c:pt idx="1">
                  <c:v>3.03</c:v>
                </c:pt>
              </c:numCache>
            </c:numRef>
          </c:val>
        </c:ser>
        <c:ser>
          <c:idx val="2"/>
          <c:order val="2"/>
          <c:tx>
            <c:strRef>
              <c:f>Sheet1!$D$1</c:f>
              <c:strCache>
                <c:ptCount val="1"/>
                <c:pt idx="0">
                  <c:v>Partitioned Parquet</c:v>
                </c:pt>
              </c:strCache>
            </c:strRef>
          </c:tx>
          <c:spPr>
            <a:solidFill>
              <a:srgbClr val="C2410C"/>
            </a:solidFill>
            <a:effectLst/>
          </c:spPr>
          <c:invertIfNegative val="0"/>
          <c:dLbls>
            <c:numFmt formatCode="0.0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Sheet1!$A$2:$A$3</c:f>
              <c:multiLvlStrCache>
                <c:ptCount val="2"/>
                <c:lvl>
                  <c:pt idx="0">
                    <c:v>One month</c:v>
                  </c:pt>
                  <c:pt idx="1">
                    <c:v>Top hashtags 2016</c:v>
                  </c:pt>
                </c:lvl>
              </c:multiLvlStrCache>
            </c:multiLvlStrRef>
          </c:cat>
          <c:val>
            <c:numRef>
              <c:f>Sheet1!$D$2:$D$3</c:f>
              <c:numCache>
                <c:formatCode>General</c:formatCode>
                <c:ptCount val="2"/>
                <c:pt idx="0">
                  <c:v>0.17</c:v>
                </c:pt>
                <c:pt idx="1">
                  <c:v>0.33</c:v>
                </c:pt>
              </c:numCache>
            </c:numRef>
          </c:val>
        </c:ser>
        <c:dLbls>
          <c:numFmt formatCode="0.0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5E1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Whole-collection $group on 1M posts</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2A9D8F"/>
            </a:solidFill>
            <a:effectLst/>
          </c:spPr>
          <c:invertIfNegative val="0"/>
          <c:dLbls>
            <c:numFmt formatCode="0.00&quot; s&quot;"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Standalone</c:v>
                  </c:pt>
                  <c:pt idx="1">
                    <c:v>Sharded (hashed)</c:v>
                  </c:pt>
                  <c:pt idx="2">
                    <c:v>Sharded (ranged)</c:v>
                  </c:pt>
                </c:lvl>
              </c:multiLvlStrCache>
            </c:multiLvlStrRef>
          </c:cat>
          <c:val>
            <c:numRef>
              <c:f>Sheet1!$B$2:$B$4</c:f>
              <c:numCache>
                <c:formatCode>General</c:formatCode>
                <c:ptCount val="3"/>
                <c:pt idx="0">
                  <c:v>5.21</c:v>
                </c:pt>
                <c:pt idx="1">
                  <c:v>2.12</c:v>
                </c:pt>
                <c:pt idx="2">
                  <c:v>2.32</c:v>
                </c:pt>
              </c:numCache>
            </c:numRef>
          </c:val>
        </c:ser>
        <c:dLbls>
          <c:numFmt formatCode="0.00&quot; s&quot;"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5E1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Write throughput (docs/s)</a:t>
            </a:r>
          </a:p>
        </c:rich>
      </c:tx>
      <c:layout/>
      <c:overlay val="0"/>
    </c:title>
    <c:autoTitleDeleted val="0"/>
    <c:plotArea>
      <c:layout/>
      <c:barChart>
        <c:barDir val="bar"/>
        <c:grouping val="clustered"/>
        <c:varyColors val="0"/>
        <c:ser>
          <c:idx val="0"/>
          <c:order val="0"/>
          <c:tx>
            <c:strRef>
              <c:f>Sheet1!$B$1</c:f>
              <c:strCache>
                <c:ptCount val="1"/>
                <c:pt idx="0">
                  <c:v>docs/s</c:v>
                </c:pt>
              </c:strCache>
            </c:strRef>
          </c:tx>
          <c:spPr>
            <a:solidFill>
              <a:srgbClr val="6B7280"/>
            </a:solidFill>
            <a:effectLst/>
          </c:spPr>
          <c:invertIfNegative val="0"/>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Sheet1!$A$2:$A$3</c:f>
              <c:multiLvlStrCache>
                <c:ptCount val="2"/>
                <c:lvl>
                  <c:pt idx="0">
                    <c:v>Standalone</c:v>
                  </c:pt>
                  <c:pt idx="1">
                    <c:v>Through mongos (hashed)</c:v>
                  </c:pt>
                </c:lvl>
              </c:multiLvlStrCache>
            </c:multiLvlStrRef>
          </c:cat>
          <c:val>
            <c:numRef>
              <c:f>Sheet1!$B$2:$B$3</c:f>
              <c:numCache>
                <c:formatCode>General</c:formatCode>
                <c:ptCount val="2"/>
                <c:pt idx="0">
                  <c:v>64670</c:v>
                </c:pt>
                <c:pt idx="1">
                  <c:v>51160</c:v>
                </c:pt>
              </c:numCache>
            </c:numRef>
          </c:val>
        </c:ser>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5E1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team. We built a complete batch analytics platform for social media text on one 16 GB machine, with MongoDB as storage and compute, and then extended it with a Big Data Lab: Spark, a Parquet data lake and a sharded MongoDB cluster. The live website and the source code are linked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numbers summarise the work. 2.94 million tweets from 2,843 accounts are stored with 12 indexes. Pre-aggregated rollups make dashboard pages about 36 times faster. In the Big Data Lab, Spark processes all rows in 147 seconds and partition pruning makes queries up to 20 times faster than reading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volume and noise: individual posts tell you nothing about trends. Our objectives cover the full pipeline, from ingestion to the dashboard, with every design decision backed by a measurement. The final objective, going distributed, is covered by the Big Data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a real, public archive of tweets from accounts Twitter linked to the Internet Research Agency. Almost all activity is in 2015 to 2017, peaking around the 2016 US election. The dataset has no sentiment labels and no engagement counts, so sentiment is predicted and engagement is synthetic and clearly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a batch pipeline. Raw CSV files are streamed and validated, cleaned and bulk-loaded into MongoDB. An enrichment job adds NLP fields. Aggregation pipelines materialise rollups. The API decides per request whether a rollup can answer the question or a live pipeline is needed, and the dashboard presents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component runs on a laptop-class machine. MongoDB is not just storage; most analytics run inside it as aggregation pipelines. The NLP models are deliberately lightweight so they run on a CPU. Spark and the sharded cluster were added for the Big Data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five Vs maps to something concrete in the project. Volume is the 2.94 million posts. Velocity is batch throughput rather than streaming. Variety is mixed field types and many languages. Veracity is handled by validation, de-duplication and honest labelling of synthetic values. Value is the trends and anomalies the dashboard surfaces.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 with majority writes is a CP system: under a network partition the minority side cannot elect a primary, so it refuses writes. The right side maps every classic Hadoop component to what we used instead: Parquet files for HDFS, Spark for MapReduce, Spark SQL for Hive and sharded MongoDB for HBase.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post is one document with nested NLP and engagement fields. The collection has a JSON schema validator. The twelve indexes are not generic: each one exists because a specific dashboard query needs it. Compound indexes follow the equality, sort, range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time grows in proportion to data size, which means throughput is constant at about ten thousand records per second. Batches of 500 or more avoid paying a network round trip per document. Building secondary indexes after the bulk load was 16 percent faster in total than maintaining them during the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collection scan reads all 2.94 million documents and takes three to five seconds whatever the query. With the right index, the query reads only the documents it returns. The account lookup goes from 3.3 seconds to under one millisecond. Checking explain plans confirmed each query used its intended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aggregation over all posts takes 15 to 37 seconds per dashboard page, which is too slow for interactive use. The same answers from the daily rollup take under one second. The cost is a one-time rebuild of about eight minutes, and incremental refresh after uploads.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a lexicon method, VADER, with two TF-IDF classifiers on the standard TweetEval benchmark. Logistic regression won with a test macro-F1 of 0.58. Applied to the 2.1 million English posts it predicts about half neutral, a third negative and a sixth positive. We state clearly that this is out-of-domain and not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Topics come from non-negative matrix factorisation, one model per language. Trends compare two time windows and weight growth by volume. Anomaly detection runs three methods; the z-score is computed inside MongoDB using window functions. The biggest spike, 6 October 2016, is flagged by two methods. Engagement analytics use synthetic likes and shares,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themselves process twenty thousand or more texts per second. End to end, with reading and writing, one worker achieves five thousand posts per second and two workers ten thousand. Beyond that the database writes are the bottleneck, which is a classic Big Data lesson: find the real bottleneck before adding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of the project goes distributed. We process the same raw CSV with Spark, store the result as a layered data lake in Parquet, and compare hashed and ranged shard keys on a sharded MongoDB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CSV goes into the bronze layer unchanged. Spark validates and cleans it into silver, partitioned by year and month. Small gold tables answer dashboard questions directly. The silver layer is also loaded into a sharded MongoDB cluster through mongos.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Spark job has four stages. Silver is the heaviest because it applies the cleaning regular expressions and a shuffle for de-duplication. The whole archive takes 147 seconds, about twenty thousand rows per second, on four 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Doubling cores from one to two nearly doubles speed. Going to four gives 2.48 times, because the shuffle and disk I/O become the limit. Spark is also inefficient on small data: on 100 thousand rows its fixed start-up cost dominates, so it shines only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lake follows the medallion pattern. Bronze keeps the raw data so any later step can be re-run. Silver is clean and partitioned. Gold holds small tables that answer questions directly. Columnar compression cuts the 1.14 GB CSV to about half, and gold is under 6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Columnar formats store each column together, so they compress well and a query reads only the columns it needs. Partitioning goes further: a query filtered on one month opens a single folder out of 74. That is partition pruning, and it gives a 20 times speed-up over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views come straight from the gold tables: monthly activity by account category and the top hashtags. Each gold table is a few megabytes at most, so the website can load them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 has a config server, three shards and a mongos router. We loaded one million posts twice, with two shard keys. Both spread data evenly. The difference is routing: the shard key decides which queries are targeted to one shard and which must be broadcast to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Scatter-gather aggregation is where sharding pays off: each shard does a third of the work in parallel. Writes are slower because every insert goes through the router. The lesson is that the shard key is a query design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explicit about limits. Everything ran on one machine, so the Big Data Lab demonstrates distributed concepts rather than cluster throughput. The data describes an influence operation, engagement is synthetic, and sentiment accuracy is modest. Future work would move to real clusters, streaming and stronger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core Big Data techniques, streaming, batching, parallelism, indexing, computing inside the database and pre-aggregating, are what make three million posts interactive. The Big Data Lab shows the distributed versions of the same ideas. Thank you; we are happy to take questions and show the live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291840"/>
            <a:ext cx="10698480" cy="7315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468880"/>
            <a:ext cx="1069848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03320"/>
            <a:ext cx="10058400"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Shape 0"/>
          <p:cNvSpPr/>
          <p:nvPr/>
        </p:nvSpPr>
        <p:spPr>
          <a:xfrm>
            <a:off x="548640" y="6355080"/>
            <a:ext cx="11094415" cy="0"/>
          </a:xfrm>
          <a:prstGeom prst="line">
            <a:avLst/>
          </a:prstGeom>
          <a:noFill/>
          <a:ln w="12700">
            <a:solidFill>
              <a:schemeClr val="bg2"/>
            </a:solidFill>
            <a:prstDash val="solid"/>
          </a:ln>
        </p:spPr>
      </p:sp>
      <p:sp>
        <p:nvSpPr>
          <p:cNvPr id="4" name="Text 1"/>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Social Media Big Data Analytics · Saliya &amp; Kalathiya</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ww.info.sahaj.si/BDA-Analytics/" TargetMode="External"/><Relationship Id="rId2" Type="http://schemas.openxmlformats.org/officeDocument/2006/relationships/hyperlink" Target="https://github.com/SahajIVVIX-1/BDA-Analytics" TargetMode="External"/><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chart" Target="/ppt/charts/chart10.xml"/><Relationship Id="rId1" Type="http://schemas.openxmlformats.org/officeDocument/2006/relationships/image" Target="../media/image-20-1.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www.info.sahaj.si/BDA-Analytics/" TargetMode="External"/><Relationship Id="rId2" Type="http://schemas.openxmlformats.org/officeDocument/2006/relationships/hyperlink" Target="https://github.com/SahajIVVIX-1/BDA-Analytics" TargetMode="External"/><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960120"/>
            <a:ext cx="8229600" cy="365760"/>
          </a:xfrm>
          <a:prstGeom prst="rect">
            <a:avLst/>
          </a:prstGeom>
          <a:noFill/>
          <a:ln/>
        </p:spPr>
        <p:txBody>
          <a:bodyPr wrap="square" lIns="0" tIns="0" rIns="0" bIns="0" rtlCol="0" anchor="ctr"/>
          <a:lstStyle/>
          <a:p>
            <a:pPr indent="0" marL="0">
              <a:buNone/>
            </a:pPr>
            <a:r>
              <a:rPr lang="en-US" sz="1300" b="1" spc="300" kern="0" dirty="0">
                <a:solidFill>
                  <a:schemeClr val="accent4"/>
                </a:solidFill>
              </a:rPr>
              <a:t>BIG DATA ANALYTICS · COURSE PROJECT</a:t>
            </a:r>
            <a:endParaRPr lang="en-US" sz="1300" dirty="0"/>
          </a:p>
        </p:txBody>
      </p:sp>
      <p:sp>
        <p:nvSpPr>
          <p:cNvPr id="3" name="Text 0"/>
          <p:cNvSpPr/>
          <p:nvPr>
            <p:ph idx="100" type="title" hasCustomPrompt="1"/>
          </p:nvPr>
        </p:nvSpPr>
        <p:spPr>
          <a:xfrm>
            <a:off x="731520" y="1417320"/>
            <a:ext cx="10698480" cy="1737360"/>
          </a:xfrm>
          <a:prstGeom prst="rect">
            <a:avLst/>
          </a:prstGeom>
          <a:noFill/>
          <a:ln/>
        </p:spPr>
        <p:txBody>
          <a:bodyPr wrap="square" lIns="0" tIns="0" rIns="0" bIns="0" rtlCol="0" anchor="b"/>
          <a:lstStyle/>
          <a:p>
            <a:pPr algn="l" indent="0" marL="0">
              <a:buNone/>
            </a:pPr>
            <a:r>
              <a:rPr lang="en-US" sz="4000" b="1" dirty="0">
                <a:solidFill>
                  <a:schemeClr val="bg1"/>
                </a:solidFill>
              </a:rPr>
              <a:t>Large-Scale Social Media Sentiment and Trend Analytics Using MongoDB</a:t>
            </a:r>
            <a:endParaRPr lang="en-US" sz="4000" dirty="0"/>
          </a:p>
        </p:txBody>
      </p:sp>
      <p:sp>
        <p:nvSpPr>
          <p:cNvPr id="4" name="Text 0"/>
          <p:cNvSpPr/>
          <p:nvPr>
            <p:ph idx="101" type="body" hasCustomPrompt="1"/>
          </p:nvPr>
        </p:nvSpPr>
        <p:spPr>
          <a:xfrm>
            <a:off x="731520" y="3291840"/>
            <a:ext cx="10698480" cy="731520"/>
          </a:xfrm>
          <a:prstGeom prst="rect">
            <a:avLst/>
          </a:prstGeom>
          <a:noFill/>
          <a:ln/>
        </p:spPr>
        <p:txBody>
          <a:bodyPr wrap="square" lIns="0" tIns="0" rIns="0" bIns="0" rtlCol="0" anchor="t"/>
          <a:lstStyle/>
          <a:p>
            <a:pPr algn="l" indent="0" marL="0">
              <a:buNone/>
            </a:pPr>
            <a:r>
              <a:rPr lang="en-US" sz="1800" dirty="0">
                <a:solidFill>
                  <a:schemeClr val="bg2"/>
                </a:solidFill>
              </a:rPr>
              <a:t>2.94 million real tweets · MongoDB aggregation · NLP · Apache Spark · Parquet data lake · sharded cluster</a:t>
            </a:r>
            <a:endParaRPr lang="en-US" sz="1800" dirty="0"/>
          </a:p>
        </p:txBody>
      </p:sp>
      <p:sp>
        <p:nvSpPr>
          <p:cNvPr id="5" name="name mark Sahaj Saliya"/>
          <p:cNvSpPr/>
          <p:nvPr/>
        </p:nvSpPr>
        <p:spPr>
          <a:xfrm>
            <a:off x="731520" y="4343400"/>
            <a:ext cx="64008" cy="685800"/>
          </a:xfrm>
          <a:prstGeom prst="rect">
            <a:avLst/>
          </a:prstGeom>
          <a:solidFill>
            <a:schemeClr val="accent2"/>
          </a:solidFill>
          <a:ln w="12700">
            <a:solidFill>
              <a:schemeClr val="accent2"/>
            </a:solidFill>
            <a:prstDash val="solid"/>
          </a:ln>
        </p:spPr>
      </p:sp>
      <p:sp>
        <p:nvSpPr>
          <p:cNvPr id="6" name="presenter Sahaj Saliya"/>
          <p:cNvSpPr txBox="1"/>
          <p:nvPr/>
        </p:nvSpPr>
        <p:spPr>
          <a:xfrm>
            <a:off x="914400" y="4315968"/>
            <a:ext cx="2743200" cy="731520"/>
          </a:xfrm>
          <a:prstGeom prst="rect">
            <a:avLst/>
          </a:prstGeom>
          <a:noFill/>
          <a:ln/>
        </p:spPr>
        <p:txBody>
          <a:bodyPr wrap="square" lIns="0" tIns="0" rIns="0" bIns="0" rtlCol="0" anchor="ctr"/>
          <a:lstStyle/>
          <a:p>
            <a:pPr indent="0" marL="0">
              <a:buNone/>
            </a:pPr>
            <a:r>
              <a:rPr lang="en-US" sz="2000" b="1" dirty="0">
                <a:solidFill>
                  <a:schemeClr val="bg1"/>
                </a:solidFill>
              </a:rPr>
              <a:t>Sahaj Saliya</a:t>
            </a:r>
            <a:endParaRPr lang="en-US" sz="2000" dirty="0"/>
          </a:p>
          <a:p>
            <a:pPr indent="0" marL="0">
              <a:buNone/>
            </a:pPr>
            <a:r>
              <a:rPr lang="en-US" sz="1400" dirty="0">
                <a:solidFill>
                  <a:schemeClr val="bg2"/>
                </a:solidFill>
              </a:rPr>
              <a:t>23BIT128</a:t>
            </a:r>
            <a:endParaRPr lang="en-US" sz="2000" dirty="0"/>
          </a:p>
        </p:txBody>
      </p:sp>
      <p:sp>
        <p:nvSpPr>
          <p:cNvPr id="7" name="name mark Hil Kalathiya"/>
          <p:cNvSpPr/>
          <p:nvPr/>
        </p:nvSpPr>
        <p:spPr>
          <a:xfrm>
            <a:off x="3840480" y="4343400"/>
            <a:ext cx="64008" cy="685800"/>
          </a:xfrm>
          <a:prstGeom prst="rect">
            <a:avLst/>
          </a:prstGeom>
          <a:solidFill>
            <a:schemeClr val="accent2"/>
          </a:solidFill>
          <a:ln w="12700">
            <a:solidFill>
              <a:schemeClr val="accent2"/>
            </a:solidFill>
            <a:prstDash val="solid"/>
          </a:ln>
        </p:spPr>
      </p:sp>
      <p:sp>
        <p:nvSpPr>
          <p:cNvPr id="8" name="presenter Hil Kalathiya"/>
          <p:cNvSpPr txBox="1"/>
          <p:nvPr/>
        </p:nvSpPr>
        <p:spPr>
          <a:xfrm>
            <a:off x="4023360" y="4315968"/>
            <a:ext cx="2743200" cy="731520"/>
          </a:xfrm>
          <a:prstGeom prst="rect">
            <a:avLst/>
          </a:prstGeom>
          <a:noFill/>
          <a:ln/>
        </p:spPr>
        <p:txBody>
          <a:bodyPr wrap="square" lIns="0" tIns="0" rIns="0" bIns="0" rtlCol="0" anchor="ctr"/>
          <a:lstStyle/>
          <a:p>
            <a:pPr indent="0" marL="0">
              <a:buNone/>
            </a:pPr>
            <a:r>
              <a:rPr lang="en-US" sz="2000" b="1" dirty="0">
                <a:solidFill>
                  <a:schemeClr val="bg1"/>
                </a:solidFill>
              </a:rPr>
              <a:t>Hil Kalathiya</a:t>
            </a:r>
            <a:endParaRPr lang="en-US" sz="2000" dirty="0"/>
          </a:p>
          <a:p>
            <a:pPr indent="0" marL="0">
              <a:buNone/>
            </a:pPr>
            <a:r>
              <a:rPr lang="en-US" sz="1400" dirty="0">
                <a:solidFill>
                  <a:schemeClr val="bg2"/>
                </a:solidFill>
              </a:rPr>
              <a:t>23BIT092</a:t>
            </a:r>
            <a:endParaRPr lang="en-US" sz="2000" dirty="0"/>
          </a:p>
        </p:txBody>
      </p:sp>
      <p:sp>
        <p:nvSpPr>
          <p:cNvPr id="9" name="department"/>
          <p:cNvSpPr txBox="1"/>
          <p:nvPr/>
        </p:nvSpPr>
        <p:spPr>
          <a:xfrm>
            <a:off x="731520" y="5349240"/>
            <a:ext cx="10058400" cy="320040"/>
          </a:xfrm>
          <a:prstGeom prst="rect">
            <a:avLst/>
          </a:prstGeom>
          <a:noFill/>
          <a:ln/>
        </p:spPr>
        <p:txBody>
          <a:bodyPr wrap="square" lIns="0" tIns="0" rIns="0" bIns="0" rtlCol="0" anchor="ctr"/>
          <a:lstStyle/>
          <a:p>
            <a:pPr indent="0" marL="0">
              <a:buNone/>
            </a:pPr>
            <a:r>
              <a:rPr lang="en-US" sz="1500" dirty="0">
                <a:solidFill>
                  <a:schemeClr val="bg1"/>
                </a:solidFill>
              </a:rPr>
              <a:t>Department of Information and Communication Technology</a:t>
            </a:r>
            <a:endParaRPr lang="en-US" sz="1500" dirty="0"/>
          </a:p>
        </p:txBody>
      </p:sp>
      <p:sp>
        <p:nvSpPr>
          <p:cNvPr id="10" name="links"/>
          <p:cNvSpPr txBox="1"/>
          <p:nvPr/>
        </p:nvSpPr>
        <p:spPr>
          <a:xfrm>
            <a:off x="731520" y="5760720"/>
            <a:ext cx="10515600" cy="320040"/>
          </a:xfrm>
          <a:prstGeom prst="rect">
            <a:avLst/>
          </a:prstGeom>
          <a:noFill/>
          <a:ln/>
        </p:spPr>
        <p:txBody>
          <a:bodyPr wrap="square" lIns="0" tIns="0" rIns="0" bIns="0" rtlCol="0" anchor="ctr"/>
          <a:lstStyle/>
          <a:p>
            <a:pPr indent="0" marL="0">
              <a:buNone/>
            </a:pPr>
            <a:r>
              <a:rPr lang="en-US" sz="1300" u="sng" dirty="0">
                <a:solidFill>
                  <a:schemeClr val="accent4"/>
                </a:solidFill>
                <a:hlinkClick r:id="rId1" invalidUrl="" action="" tgtFrame="" tooltip="" history="1" highlightClick="0" endSnd="0">
                  <a:extLst>
                    <a:ext uri="{A12FA001-AC4F-418D-AE19-62706E023703}">
                      <ahyp:hlinkClr xmlns:ahyp="http://schemas.microsoft.com/office/drawing/2018/hyperlinkcolor" val="tx"/>
                    </a:ext>
                  </a:extLst>
                </a:hlinkClick>
              </a:rPr>
              <a:t>info.sahaj.si/BDA-Analytics</a:t>
            </a:r>
            <a:pPr indent="0" marL="0">
              <a:buNone/>
            </a:pPr>
            <a:r>
              <a:rPr lang="en-US" sz="1300" dirty="0">
                <a:solidFill>
                  <a:schemeClr val="bg2"/>
                </a:solidFill>
              </a:rPr>
              <a:t>   ·   </a:t>
            </a:r>
            <a:pPr indent="0" marL="0">
              <a:buNone/>
            </a:pPr>
            <a:r>
              <a:rPr lang="en-US" sz="1300" u="sng" dirty="0">
                <a:solidFill>
                  <a:schemeClr val="accent4"/>
                </a:solidFill>
                <a:hlinkClick r:id="rId2" invalidUrl="" action="" tgtFrame="" tooltip="" history="1" highlightClick="0" endSnd="0">
                  <a:extLst>
                    <a:ext uri="{A12FA001-AC4F-418D-AE19-62706E023703}">
                      <ahyp:hlinkClr xmlns:ahyp="http://schemas.microsoft.com/office/drawing/2018/hyperlinkcolor" val="tx"/>
                    </a:ext>
                  </a:extLst>
                </a:hlinkClick>
              </a:rPr>
              <a:t>github.com/SahajIVVIX-1/BDA-Analytics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The project at a glance</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OVERVIEW</a:t>
            </a:r>
            <a:endParaRPr lang="en-US" sz="1100" dirty="0"/>
          </a:p>
        </p:txBody>
      </p:sp>
      <p:sp>
        <p:nvSpPr>
          <p:cNvPr id="4" name="stat card real tweets stored and analysed"/>
          <p:cNvSpPr/>
          <p:nvPr/>
        </p:nvSpPr>
        <p:spPr>
          <a:xfrm>
            <a:off x="548640" y="1463040"/>
            <a:ext cx="3520440" cy="1645920"/>
          </a:xfrm>
          <a:prstGeom prst="roundRect">
            <a:avLst>
              <a:gd name="adj" fmla="val 4444"/>
            </a:avLst>
          </a:prstGeom>
          <a:solidFill>
            <a:schemeClr val="bg2"/>
          </a:solidFill>
          <a:ln w="12700">
            <a:solidFill>
              <a:schemeClr val="bg2"/>
            </a:solidFill>
            <a:prstDash val="solid"/>
          </a:ln>
        </p:spPr>
      </p:sp>
      <p:sp>
        <p:nvSpPr>
          <p:cNvPr id="5" name="stat real tweets stored and analysed"/>
          <p:cNvSpPr txBox="1"/>
          <p:nvPr/>
        </p:nvSpPr>
        <p:spPr>
          <a:xfrm>
            <a:off x="731520" y="1600200"/>
            <a:ext cx="3154680" cy="855878"/>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2.94M</a:t>
            </a:r>
            <a:endParaRPr lang="en-US" sz="3400" dirty="0"/>
          </a:p>
        </p:txBody>
      </p:sp>
      <p:sp>
        <p:nvSpPr>
          <p:cNvPr id="6" name="stat label real tweets stored and analysed"/>
          <p:cNvSpPr txBox="1"/>
          <p:nvPr/>
        </p:nvSpPr>
        <p:spPr>
          <a:xfrm>
            <a:off x="731520" y="2456078"/>
            <a:ext cx="3154680" cy="658368"/>
          </a:xfrm>
          <a:prstGeom prst="rect">
            <a:avLst/>
          </a:prstGeom>
          <a:noFill/>
          <a:ln/>
        </p:spPr>
        <p:txBody>
          <a:bodyPr wrap="square" lIns="0" tIns="0" rIns="0" bIns="0" rtlCol="0" anchor="t"/>
          <a:lstStyle/>
          <a:p>
            <a:pPr indent="0" marL="0">
              <a:buNone/>
            </a:pPr>
            <a:r>
              <a:rPr lang="en-US" sz="1300" dirty="0">
                <a:solidFill>
                  <a:schemeClr val="tx1"/>
                </a:solidFill>
              </a:rPr>
              <a:t>real tweets stored and analysed</a:t>
            </a:r>
            <a:endParaRPr lang="en-US" sz="1300" dirty="0"/>
          </a:p>
        </p:txBody>
      </p:sp>
      <p:sp>
        <p:nvSpPr>
          <p:cNvPr id="7" name="stat card accounts, 2012 to 2018"/>
          <p:cNvSpPr/>
          <p:nvPr/>
        </p:nvSpPr>
        <p:spPr>
          <a:xfrm>
            <a:off x="4297680" y="1463040"/>
            <a:ext cx="3520440" cy="1645920"/>
          </a:xfrm>
          <a:prstGeom prst="roundRect">
            <a:avLst>
              <a:gd name="adj" fmla="val 4444"/>
            </a:avLst>
          </a:prstGeom>
          <a:solidFill>
            <a:schemeClr val="bg2"/>
          </a:solidFill>
          <a:ln w="12700">
            <a:solidFill>
              <a:schemeClr val="bg2"/>
            </a:solidFill>
            <a:prstDash val="solid"/>
          </a:ln>
        </p:spPr>
      </p:sp>
      <p:sp>
        <p:nvSpPr>
          <p:cNvPr id="8" name="stat accounts, 2012 to 2018"/>
          <p:cNvSpPr txBox="1"/>
          <p:nvPr/>
        </p:nvSpPr>
        <p:spPr>
          <a:xfrm>
            <a:off x="4480560" y="1600200"/>
            <a:ext cx="3154680" cy="855878"/>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2,843</a:t>
            </a:r>
            <a:endParaRPr lang="en-US" sz="3400" dirty="0"/>
          </a:p>
        </p:txBody>
      </p:sp>
      <p:sp>
        <p:nvSpPr>
          <p:cNvPr id="9" name="stat label accounts, 2012 to 2018"/>
          <p:cNvSpPr txBox="1"/>
          <p:nvPr/>
        </p:nvSpPr>
        <p:spPr>
          <a:xfrm>
            <a:off x="4480560" y="2456078"/>
            <a:ext cx="3154680" cy="658368"/>
          </a:xfrm>
          <a:prstGeom prst="rect">
            <a:avLst/>
          </a:prstGeom>
          <a:noFill/>
          <a:ln/>
        </p:spPr>
        <p:txBody>
          <a:bodyPr wrap="square" lIns="0" tIns="0" rIns="0" bIns="0" rtlCol="0" anchor="t"/>
          <a:lstStyle/>
          <a:p>
            <a:pPr indent="0" marL="0">
              <a:buNone/>
            </a:pPr>
            <a:r>
              <a:rPr lang="en-US" sz="1300" dirty="0">
                <a:solidFill>
                  <a:schemeClr val="tx1"/>
                </a:solidFill>
              </a:rPr>
              <a:t>accounts, 2012 to 2018</a:t>
            </a:r>
            <a:endParaRPr lang="en-US" sz="1300" dirty="0"/>
          </a:p>
        </p:txBody>
      </p:sp>
      <p:sp>
        <p:nvSpPr>
          <p:cNvPr id="10" name="stat card purpose-built MongoDB indexes"/>
          <p:cNvSpPr/>
          <p:nvPr/>
        </p:nvSpPr>
        <p:spPr>
          <a:xfrm>
            <a:off x="8046720" y="1463040"/>
            <a:ext cx="3520440" cy="1645920"/>
          </a:xfrm>
          <a:prstGeom prst="roundRect">
            <a:avLst>
              <a:gd name="adj" fmla="val 4444"/>
            </a:avLst>
          </a:prstGeom>
          <a:solidFill>
            <a:schemeClr val="bg2"/>
          </a:solidFill>
          <a:ln w="12700">
            <a:solidFill>
              <a:schemeClr val="bg2"/>
            </a:solidFill>
            <a:prstDash val="solid"/>
          </a:ln>
        </p:spPr>
      </p:sp>
      <p:sp>
        <p:nvSpPr>
          <p:cNvPr id="11" name="stat purpose-built MongoDB indexes"/>
          <p:cNvSpPr txBox="1"/>
          <p:nvPr/>
        </p:nvSpPr>
        <p:spPr>
          <a:xfrm>
            <a:off x="8229600" y="1600200"/>
            <a:ext cx="3154680" cy="855878"/>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12</a:t>
            </a:r>
            <a:endParaRPr lang="en-US" sz="3400" dirty="0"/>
          </a:p>
        </p:txBody>
      </p:sp>
      <p:sp>
        <p:nvSpPr>
          <p:cNvPr id="12" name="stat label purpose-built MongoDB indexes"/>
          <p:cNvSpPr txBox="1"/>
          <p:nvPr/>
        </p:nvSpPr>
        <p:spPr>
          <a:xfrm>
            <a:off x="8229600" y="2456078"/>
            <a:ext cx="3154680" cy="658368"/>
          </a:xfrm>
          <a:prstGeom prst="rect">
            <a:avLst/>
          </a:prstGeom>
          <a:noFill/>
          <a:ln/>
        </p:spPr>
        <p:txBody>
          <a:bodyPr wrap="square" lIns="0" tIns="0" rIns="0" bIns="0" rtlCol="0" anchor="t"/>
          <a:lstStyle/>
          <a:p>
            <a:pPr indent="0" marL="0">
              <a:buNone/>
            </a:pPr>
            <a:r>
              <a:rPr lang="en-US" sz="1300" dirty="0">
                <a:solidFill>
                  <a:schemeClr val="tx1"/>
                </a:solidFill>
              </a:rPr>
              <a:t>purpose-built MongoDB indexes</a:t>
            </a:r>
            <a:endParaRPr lang="en-US" sz="1300" dirty="0"/>
          </a:p>
        </p:txBody>
      </p:sp>
      <p:sp>
        <p:nvSpPr>
          <p:cNvPr id="13" name="stat card faster dashboard with rollups"/>
          <p:cNvSpPr/>
          <p:nvPr/>
        </p:nvSpPr>
        <p:spPr>
          <a:xfrm>
            <a:off x="548640" y="3337560"/>
            <a:ext cx="3520440" cy="1645920"/>
          </a:xfrm>
          <a:prstGeom prst="roundRect">
            <a:avLst>
              <a:gd name="adj" fmla="val 4444"/>
            </a:avLst>
          </a:prstGeom>
          <a:solidFill>
            <a:schemeClr val="bg2"/>
          </a:solidFill>
          <a:ln w="12700">
            <a:solidFill>
              <a:schemeClr val="bg2"/>
            </a:solidFill>
            <a:prstDash val="solid"/>
          </a:ln>
        </p:spPr>
      </p:sp>
      <p:sp>
        <p:nvSpPr>
          <p:cNvPr id="14" name="stat faster dashboard with rollups"/>
          <p:cNvSpPr txBox="1"/>
          <p:nvPr/>
        </p:nvSpPr>
        <p:spPr>
          <a:xfrm>
            <a:off x="731520" y="3474720"/>
            <a:ext cx="3154680" cy="855878"/>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36×</a:t>
            </a:r>
            <a:endParaRPr lang="en-US" sz="3400" dirty="0"/>
          </a:p>
        </p:txBody>
      </p:sp>
      <p:sp>
        <p:nvSpPr>
          <p:cNvPr id="15" name="stat label faster dashboard with rollups"/>
          <p:cNvSpPr txBox="1"/>
          <p:nvPr/>
        </p:nvSpPr>
        <p:spPr>
          <a:xfrm>
            <a:off x="731520" y="4330598"/>
            <a:ext cx="3154680" cy="658368"/>
          </a:xfrm>
          <a:prstGeom prst="rect">
            <a:avLst/>
          </a:prstGeom>
          <a:noFill/>
          <a:ln/>
        </p:spPr>
        <p:txBody>
          <a:bodyPr wrap="square" lIns="0" tIns="0" rIns="0" bIns="0" rtlCol="0" anchor="t"/>
          <a:lstStyle/>
          <a:p>
            <a:pPr indent="0" marL="0">
              <a:buNone/>
            </a:pPr>
            <a:r>
              <a:rPr lang="en-US" sz="1300" dirty="0">
                <a:solidFill>
                  <a:schemeClr val="tx1"/>
                </a:solidFill>
              </a:rPr>
              <a:t>faster dashboard with rollups</a:t>
            </a:r>
            <a:endParaRPr lang="en-US" sz="1300" dirty="0"/>
          </a:p>
        </p:txBody>
      </p:sp>
      <p:sp>
        <p:nvSpPr>
          <p:cNvPr id="16" name="stat card Spark run over every raw row"/>
          <p:cNvSpPr/>
          <p:nvPr/>
        </p:nvSpPr>
        <p:spPr>
          <a:xfrm>
            <a:off x="4297680" y="3337560"/>
            <a:ext cx="3520440" cy="1645920"/>
          </a:xfrm>
          <a:prstGeom prst="roundRect">
            <a:avLst>
              <a:gd name="adj" fmla="val 4444"/>
            </a:avLst>
          </a:prstGeom>
          <a:solidFill>
            <a:schemeClr val="bg2"/>
          </a:solidFill>
          <a:ln w="12700">
            <a:solidFill>
              <a:schemeClr val="bg2"/>
            </a:solidFill>
            <a:prstDash val="solid"/>
          </a:ln>
        </p:spPr>
      </p:sp>
      <p:sp>
        <p:nvSpPr>
          <p:cNvPr id="17" name="stat Spark run over every raw row"/>
          <p:cNvSpPr txBox="1"/>
          <p:nvPr/>
        </p:nvSpPr>
        <p:spPr>
          <a:xfrm>
            <a:off x="4480560" y="3474720"/>
            <a:ext cx="3154680" cy="855878"/>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147 s</a:t>
            </a:r>
            <a:endParaRPr lang="en-US" sz="3400" dirty="0"/>
          </a:p>
        </p:txBody>
      </p:sp>
      <p:sp>
        <p:nvSpPr>
          <p:cNvPr id="18" name="stat label Spark run over every raw row"/>
          <p:cNvSpPr txBox="1"/>
          <p:nvPr/>
        </p:nvSpPr>
        <p:spPr>
          <a:xfrm>
            <a:off x="4480560" y="4330598"/>
            <a:ext cx="3154680" cy="658368"/>
          </a:xfrm>
          <a:prstGeom prst="rect">
            <a:avLst/>
          </a:prstGeom>
          <a:noFill/>
          <a:ln/>
        </p:spPr>
        <p:txBody>
          <a:bodyPr wrap="square" lIns="0" tIns="0" rIns="0" bIns="0" rtlCol="0" anchor="t"/>
          <a:lstStyle/>
          <a:p>
            <a:pPr indent="0" marL="0">
              <a:buNone/>
            </a:pPr>
            <a:r>
              <a:rPr lang="en-US" sz="1300" dirty="0">
                <a:solidFill>
                  <a:schemeClr val="tx1"/>
                </a:solidFill>
              </a:rPr>
              <a:t>Spark run over every raw row</a:t>
            </a:r>
            <a:endParaRPr lang="en-US" sz="1300" dirty="0"/>
          </a:p>
        </p:txBody>
      </p:sp>
      <p:sp>
        <p:nvSpPr>
          <p:cNvPr id="19" name="stat card faster queries with partitioned Parquet"/>
          <p:cNvSpPr/>
          <p:nvPr/>
        </p:nvSpPr>
        <p:spPr>
          <a:xfrm>
            <a:off x="8046720" y="3337560"/>
            <a:ext cx="3520440" cy="1645920"/>
          </a:xfrm>
          <a:prstGeom prst="roundRect">
            <a:avLst>
              <a:gd name="adj" fmla="val 4444"/>
            </a:avLst>
          </a:prstGeom>
          <a:solidFill>
            <a:schemeClr val="bg2"/>
          </a:solidFill>
          <a:ln w="12700">
            <a:solidFill>
              <a:schemeClr val="bg2"/>
            </a:solidFill>
            <a:prstDash val="solid"/>
          </a:ln>
        </p:spPr>
      </p:sp>
      <p:sp>
        <p:nvSpPr>
          <p:cNvPr id="20" name="stat faster queries with partitioned Parquet"/>
          <p:cNvSpPr txBox="1"/>
          <p:nvPr/>
        </p:nvSpPr>
        <p:spPr>
          <a:xfrm>
            <a:off x="8229600" y="3474720"/>
            <a:ext cx="3154680" cy="855878"/>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20×</a:t>
            </a:r>
            <a:endParaRPr lang="en-US" sz="3400" dirty="0"/>
          </a:p>
        </p:txBody>
      </p:sp>
      <p:sp>
        <p:nvSpPr>
          <p:cNvPr id="21" name="stat label faster queries with partitioned Parquet"/>
          <p:cNvSpPr txBox="1"/>
          <p:nvPr/>
        </p:nvSpPr>
        <p:spPr>
          <a:xfrm>
            <a:off x="8229600" y="4330598"/>
            <a:ext cx="3154680" cy="658368"/>
          </a:xfrm>
          <a:prstGeom prst="rect">
            <a:avLst/>
          </a:prstGeom>
          <a:noFill/>
          <a:ln/>
        </p:spPr>
        <p:txBody>
          <a:bodyPr wrap="square" lIns="0" tIns="0" rIns="0" bIns="0" rtlCol="0" anchor="t"/>
          <a:lstStyle/>
          <a:p>
            <a:pPr indent="0" marL="0">
              <a:buNone/>
            </a:pPr>
            <a:r>
              <a:rPr lang="en-US" sz="1300" dirty="0">
                <a:solidFill>
                  <a:schemeClr val="tx1"/>
                </a:solidFill>
              </a:rPr>
              <a:t>faster queries with partitioned Parquet</a:t>
            </a:r>
            <a:endParaRPr lang="en-US" sz="1300" dirty="0"/>
          </a:p>
        </p:txBody>
      </p:sp>
      <p:sp>
        <p:nvSpPr>
          <p:cNvPr id="22" name="summary line"/>
          <p:cNvSpPr txBox="1"/>
          <p:nvPr/>
        </p:nvSpPr>
        <p:spPr>
          <a:xfrm>
            <a:off x="548640" y="5349240"/>
            <a:ext cx="11064240" cy="731520"/>
          </a:xfrm>
          <a:prstGeom prst="rect">
            <a:avLst/>
          </a:prstGeom>
          <a:noFill/>
          <a:ln/>
        </p:spPr>
        <p:txBody>
          <a:bodyPr wrap="square" lIns="0" tIns="0" rIns="0" bIns="0" rtlCol="0" anchor="ctr"/>
          <a:lstStyle/>
          <a:p>
            <a:pPr indent="0" marL="0">
              <a:buNone/>
            </a:pPr>
            <a:r>
              <a:rPr lang="en-US" sz="1500" i="1" dirty="0">
                <a:solidFill>
                  <a:schemeClr val="accent5"/>
                </a:solidFill>
              </a:rPr>
              <a:t>Ingest → clean → enrich with NLP → aggregate in MongoDB → serve through FastAPI → explore in a React dashboard; then the same archive through Spark, a data lake and a sharded cluster.</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Problem and objectives</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WHY THIS PROJECT</a:t>
            </a:r>
            <a:endParaRPr lang="en-US" sz="1100" dirty="0"/>
          </a:p>
        </p:txBody>
      </p:sp>
      <p:sp>
        <p:nvSpPr>
          <p:cNvPr id="4" name="card The problem"/>
          <p:cNvSpPr/>
          <p:nvPr/>
        </p:nvSpPr>
        <p:spPr>
          <a:xfrm>
            <a:off x="548640" y="1417320"/>
            <a:ext cx="5394960" cy="4663440"/>
          </a:xfrm>
          <a:prstGeom prst="roundRect">
            <a:avLst>
              <a:gd name="adj" fmla="val 1569"/>
            </a:avLst>
          </a:prstGeom>
          <a:solidFill>
            <a:schemeClr val="bg2"/>
          </a:solidFill>
          <a:ln w="12700">
            <a:solidFill>
              <a:schemeClr val="bg2"/>
            </a:solidFill>
            <a:prstDash val="solid"/>
          </a:ln>
        </p:spPr>
      </p:sp>
      <p:sp>
        <p:nvSpPr>
          <p:cNvPr id="5" name="card mark The problem"/>
          <p:cNvSpPr/>
          <p:nvPr/>
        </p:nvSpPr>
        <p:spPr>
          <a:xfrm>
            <a:off x="731520" y="1618488"/>
            <a:ext cx="457200" cy="64008"/>
          </a:xfrm>
          <a:prstGeom prst="rect">
            <a:avLst/>
          </a:prstGeom>
          <a:solidFill>
            <a:schemeClr val="accent2"/>
          </a:solidFill>
          <a:ln w="12700">
            <a:solidFill>
              <a:schemeClr val="accent2"/>
            </a:solidFill>
            <a:prstDash val="solid"/>
          </a:ln>
        </p:spPr>
      </p:sp>
      <p:sp>
        <p:nvSpPr>
          <p:cNvPr id="6" name="card head The problem"/>
          <p:cNvSpPr txBox="1"/>
          <p:nvPr/>
        </p:nvSpPr>
        <p:spPr>
          <a:xfrm>
            <a:off x="731520" y="1764792"/>
            <a:ext cx="502920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The problem</a:t>
            </a:r>
            <a:endParaRPr lang="en-US" sz="1700" dirty="0"/>
          </a:p>
        </p:txBody>
      </p:sp>
      <p:sp>
        <p:nvSpPr>
          <p:cNvPr id="7" name="card body The problem"/>
          <p:cNvSpPr txBox="1"/>
          <p:nvPr/>
        </p:nvSpPr>
        <p:spPr>
          <a:xfrm>
            <a:off x="731520" y="2221992"/>
            <a:ext cx="5029200" cy="3749040"/>
          </a:xfrm>
          <a:prstGeom prst="rect">
            <a:avLst/>
          </a:prstGeom>
          <a:noFill/>
          <a:ln/>
        </p:spPr>
        <p:txBody>
          <a:bodyPr wrap="square" lIns="0" tIns="0" rIns="0" bIns="0" rtlCol="0" anchor="t"/>
          <a:lstStyle/>
          <a:p>
            <a:pPr indent="0" marL="0">
              <a:buNone/>
            </a:pPr>
            <a:r>
              <a:rPr lang="en-US" sz="1500" dirty="0">
                <a:solidFill>
                  <a:schemeClr val="tx1"/>
                </a:solidFill>
              </a:rPr>
              <a:t>Social media produces large volumes of short, noisy, multilingual text. Patterns such as mood shifts, coordinated campaigns, sudden spikes and trending hashtags cannot be found by reading individual posts.</a:t>
            </a:r>
            <a:endParaRPr lang="en-US" sz="1500" dirty="0"/>
          </a:p>
          <a:p>
            <a:pPr indent="0" marL="0">
              <a:buNone/>
            </a:pPr>
            <a:endParaRPr lang="en-US" sz="1500" dirty="0"/>
          </a:p>
          <a:p>
            <a:pPr indent="0" marL="0">
              <a:buNone/>
            </a:pPr>
            <a:r>
              <a:rPr lang="en-US" sz="1500" dirty="0">
                <a:solidFill>
                  <a:schemeClr val="tx1"/>
                </a:solidFill>
              </a:rPr>
              <a:t>We need a system that ingests millions of posts, enriches them, aggregates them fast enough for interactive use, and explains the numbers it shows.</a:t>
            </a:r>
            <a:endParaRPr lang="en-US" sz="1500" dirty="0"/>
          </a:p>
        </p:txBody>
      </p:sp>
      <p:sp>
        <p:nvSpPr>
          <p:cNvPr id="8" name="bullets"/>
          <p:cNvSpPr txBox="1"/>
          <p:nvPr/>
        </p:nvSpPr>
        <p:spPr>
          <a:xfrm>
            <a:off x="6309360" y="1463040"/>
            <a:ext cx="5303520" cy="466344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Ingest at scale: </a:t>
            </a:r>
            <a:pPr indent="0" marL="0">
              <a:buNone/>
            </a:pPr>
            <a:r>
              <a:rPr lang="en-US" sz="1500" dirty="0">
                <a:solidFill>
                  <a:schemeClr val="tx1"/>
                </a:solidFill>
              </a:rPr>
              <a:t>stream, validate and bulk-load millions of posts.</a:t>
            </a:r>
            <a:endParaRPr lang="en-US" sz="1500" dirty="0"/>
          </a:p>
          <a:p>
            <a:pPr marL="228600" indent="-228600">
              <a:spcAft>
                <a:spcPts val="800"/>
              </a:spcAft>
              <a:buSzPct val="100000"/>
              <a:buChar char="•"/>
            </a:pPr>
            <a:r>
              <a:rPr lang="en-US" sz="1500" b="1" dirty="0">
                <a:solidFill>
                  <a:schemeClr val="tx2"/>
                </a:solidFill>
              </a:rPr>
              <a:t>Model for queries: </a:t>
            </a:r>
            <a:pPr indent="0" marL="0">
              <a:buNone/>
            </a:pPr>
            <a:r>
              <a:rPr lang="en-US" sz="1500" dirty="0">
                <a:solidFill>
                  <a:schemeClr val="tx1"/>
                </a:solidFill>
              </a:rPr>
              <a:t>schema validation and indexes matched to access patterns.</a:t>
            </a:r>
            <a:endParaRPr lang="en-US" sz="1500" dirty="0"/>
          </a:p>
          <a:p>
            <a:pPr marL="228600" indent="-228600">
              <a:spcAft>
                <a:spcPts val="800"/>
              </a:spcAft>
              <a:buSzPct val="100000"/>
              <a:buChar char="•"/>
            </a:pPr>
            <a:r>
              <a:rPr lang="en-US" sz="1500" b="1" dirty="0">
                <a:solidFill>
                  <a:schemeClr val="tx2"/>
                </a:solidFill>
              </a:rPr>
              <a:t>Enrich: </a:t>
            </a:r>
            <a:pPr indent="0" marL="0">
              <a:buNone/>
            </a:pPr>
            <a:r>
              <a:rPr lang="en-US" sz="1500" dirty="0">
                <a:solidFill>
                  <a:schemeClr val="tx1"/>
                </a:solidFill>
              </a:rPr>
              <a:t>sentiment, topics and keywords on a CPU, no GPU.</a:t>
            </a:r>
            <a:endParaRPr lang="en-US" sz="1500" dirty="0"/>
          </a:p>
          <a:p>
            <a:pPr marL="228600" indent="-228600">
              <a:spcAft>
                <a:spcPts val="800"/>
              </a:spcAft>
              <a:buSzPct val="100000"/>
              <a:buChar char="•"/>
            </a:pPr>
            <a:r>
              <a:rPr lang="en-US" sz="1500" b="1" dirty="0">
                <a:solidFill>
                  <a:schemeClr val="tx2"/>
                </a:solidFill>
              </a:rPr>
              <a:t>Aggregate: </a:t>
            </a:r>
            <a:pPr indent="0" marL="0">
              <a:buNone/>
            </a:pPr>
            <a:r>
              <a:rPr lang="en-US" sz="1500" dirty="0">
                <a:solidFill>
                  <a:schemeClr val="tx1"/>
                </a:solidFill>
              </a:rPr>
              <a:t>MongoDB pipelines and pre-computed rollups.</a:t>
            </a:r>
            <a:endParaRPr lang="en-US" sz="1500" dirty="0"/>
          </a:p>
          <a:p>
            <a:pPr marL="228600" indent="-228600">
              <a:spcAft>
                <a:spcPts val="800"/>
              </a:spcAft>
              <a:buSzPct val="100000"/>
              <a:buChar char="•"/>
            </a:pPr>
            <a:r>
              <a:rPr lang="en-US" sz="1500" b="1" dirty="0">
                <a:solidFill>
                  <a:schemeClr val="tx2"/>
                </a:solidFill>
              </a:rPr>
              <a:t>Serve and show: </a:t>
            </a:r>
            <a:pPr indent="0" marL="0">
              <a:buNone/>
            </a:pPr>
            <a:r>
              <a:rPr lang="en-US" sz="1500" dirty="0">
                <a:solidFill>
                  <a:schemeClr val="tx1"/>
                </a:solidFill>
              </a:rPr>
              <a:t>FastAPI service and a React dashboard.</a:t>
            </a:r>
            <a:endParaRPr lang="en-US" sz="1500" dirty="0"/>
          </a:p>
          <a:p>
            <a:pPr marL="228600" indent="-228600">
              <a:spcAft>
                <a:spcPts val="800"/>
              </a:spcAft>
              <a:buSzPct val="100000"/>
              <a:buChar char="•"/>
            </a:pPr>
            <a:r>
              <a:rPr lang="en-US" sz="1500" b="1" dirty="0">
                <a:solidFill>
                  <a:schemeClr val="tx2"/>
                </a:solidFill>
              </a:rPr>
              <a:t>Measure: </a:t>
            </a:r>
            <a:pPr indent="0" marL="0">
              <a:buNone/>
            </a:pPr>
            <a:r>
              <a:rPr lang="en-US" sz="1500" dirty="0">
                <a:solidFill>
                  <a:schemeClr val="tx1"/>
                </a:solidFill>
              </a:rPr>
              <a:t>experiments at 100K, 500K, 1M and 2.95M documents.</a:t>
            </a:r>
            <a:endParaRPr lang="en-US" sz="1500" dirty="0"/>
          </a:p>
          <a:p>
            <a:pPr marL="228600" indent="-228600">
              <a:spcAft>
                <a:spcPts val="800"/>
              </a:spcAft>
              <a:buSzPct val="100000"/>
              <a:buChar char="•"/>
            </a:pPr>
            <a:r>
              <a:rPr lang="en-US" sz="1500" b="1" dirty="0">
                <a:solidFill>
                  <a:schemeClr val="tx2"/>
                </a:solidFill>
              </a:rPr>
              <a:t>Go distributed: </a:t>
            </a:r>
            <a:pPr indent="0" marL="0">
              <a:buNone/>
            </a:pPr>
            <a:r>
              <a:rPr lang="en-US" sz="1500" dirty="0">
                <a:solidFill>
                  <a:schemeClr val="tx1"/>
                </a:solidFill>
              </a:rPr>
              <a:t>Spark, a Parquet lake and sharding in the Big Data Lab.</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Dataset: 2.94 million IRA troll tweets</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DATA</a:t>
            </a:r>
            <a:endParaRPr lang="en-US" sz="1100" dirty="0"/>
          </a:p>
        </p:txBody>
      </p:sp>
      <p:sp>
        <p:nvSpPr>
          <p:cNvPr id="4" name="bullets"/>
          <p:cNvSpPr txBox="1"/>
          <p:nvPr/>
        </p:nvSpPr>
        <p:spPr>
          <a:xfrm>
            <a:off x="548640" y="1463040"/>
            <a:ext cx="5120640" cy="466344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chemeClr val="tx2"/>
                </a:solidFill>
              </a:rPr>
              <a:t>Source: </a:t>
            </a:r>
            <a:pPr indent="0" marL="0">
              <a:buNone/>
            </a:pPr>
            <a:r>
              <a:rPr lang="en-US" sz="1400" dirty="0">
                <a:solidFill>
                  <a:schemeClr val="tx1"/>
                </a:solidFill>
              </a:rPr>
              <a:t>FiveThirtyEight russian-troll-tweets (Linvill and Warren, Clemson University), CC BY 4.0.</a:t>
            </a:r>
            <a:endParaRPr lang="en-US" sz="1400" dirty="0"/>
          </a:p>
          <a:p>
            <a:pPr marL="228600" indent="-228600">
              <a:spcAft>
                <a:spcPts val="800"/>
              </a:spcAft>
              <a:buSzPct val="100000"/>
              <a:buChar char="•"/>
            </a:pPr>
            <a:r>
              <a:rPr lang="en-US" sz="1400" b="1" dirty="0">
                <a:solidFill>
                  <a:schemeClr val="tx2"/>
                </a:solidFill>
              </a:rPr>
              <a:t>Size: </a:t>
            </a:r>
            <a:pPr indent="0" marL="0">
              <a:buNone/>
            </a:pPr>
            <a:r>
              <a:rPr lang="en-US" sz="1400" dirty="0">
                <a:solidFill>
                  <a:schemeClr val="tx1"/>
                </a:solidFill>
              </a:rPr>
              <a:t>2,946,207 rows read, 2,944,814 stored, 13 CSV files, 1.14 GB.</a:t>
            </a:r>
            <a:endParaRPr lang="en-US" sz="1400" dirty="0"/>
          </a:p>
          <a:p>
            <a:pPr marL="228600" indent="-228600">
              <a:spcAft>
                <a:spcPts val="800"/>
              </a:spcAft>
              <a:buSzPct val="100000"/>
              <a:buChar char="•"/>
            </a:pPr>
            <a:r>
              <a:rPr lang="en-US" sz="1400" b="1" dirty="0">
                <a:solidFill>
                  <a:schemeClr val="tx2"/>
                </a:solidFill>
              </a:rPr>
              <a:t>Span: </a:t>
            </a:r>
            <a:pPr indent="0" marL="0">
              <a:buNone/>
            </a:pPr>
            <a:r>
              <a:rPr lang="en-US" sz="1400" dirty="0">
                <a:solidFill>
                  <a:schemeClr val="tx1"/>
                </a:solidFill>
              </a:rPr>
              <a:t>2012-02-02 to 2018-05-30; 99.5% of posts in 2015 to 2017.</a:t>
            </a:r>
            <a:endParaRPr lang="en-US" sz="1400" dirty="0"/>
          </a:p>
          <a:p>
            <a:pPr marL="228600" indent="-228600">
              <a:spcAft>
                <a:spcPts val="800"/>
              </a:spcAft>
              <a:buSzPct val="100000"/>
              <a:buChar char="•"/>
            </a:pPr>
            <a:r>
              <a:rPr lang="en-US" sz="1400" b="1" dirty="0">
                <a:solidFill>
                  <a:schemeClr val="tx2"/>
                </a:solidFill>
              </a:rPr>
              <a:t>Fields: </a:t>
            </a:r>
            <a:pPr indent="0" marL="0">
              <a:buNone/>
            </a:pPr>
            <a:r>
              <a:rPr lang="en-US" sz="1400" dirty="0">
                <a:solidFill>
                  <a:schemeClr val="tx1"/>
                </a:solidFill>
              </a:rPr>
              <a:t>text, date, language, region, author, followers, account category, post type.</a:t>
            </a:r>
            <a:endParaRPr lang="en-US" sz="1400" dirty="0"/>
          </a:p>
          <a:p>
            <a:pPr marL="228600" indent="-228600">
              <a:spcAft>
                <a:spcPts val="800"/>
              </a:spcAft>
              <a:buSzPct val="100000"/>
              <a:buChar char="•"/>
            </a:pPr>
            <a:r>
              <a:rPr lang="en-US" sz="1400" b="1" dirty="0">
                <a:solidFill>
                  <a:schemeClr val="tx2"/>
                </a:solidFill>
              </a:rPr>
              <a:t>Missing: </a:t>
            </a:r>
            <a:pPr indent="0" marL="0">
              <a:buNone/>
            </a:pPr>
            <a:r>
              <a:rPr lang="en-US" sz="1400" dirty="0">
                <a:solidFill>
                  <a:schemeClr val="tx1"/>
                </a:solidFill>
              </a:rPr>
              <a:t>sentiment labels (predicted), engagement counts (synthetic and flagged), time zone (UTC assumed).</a:t>
            </a:r>
            <a:endParaRPr lang="en-US" sz="1400" dirty="0"/>
          </a:p>
          <a:p>
            <a:pPr marL="228600" indent="-228600">
              <a:spcAft>
                <a:spcPts val="800"/>
              </a:spcAft>
              <a:buSzPct val="100000"/>
              <a:buChar char="•"/>
            </a:pPr>
            <a:r>
              <a:rPr lang="en-US" sz="1400" b="1" dirty="0">
                <a:solidFill>
                  <a:schemeClr val="tx2"/>
                </a:solidFill>
              </a:rPr>
              <a:t>Caveat: </a:t>
            </a:r>
            <a:pPr indent="0" marL="0">
              <a:buNone/>
            </a:pPr>
            <a:r>
              <a:rPr lang="en-US" sz="1400" dirty="0">
                <a:solidFill>
                  <a:schemeClr val="tx1"/>
                </a:solidFill>
              </a:rPr>
              <a:t>a state-linked influence operation, so results do not describe public opinion.</a:t>
            </a:r>
            <a:endParaRPr lang="en-US" sz="1400" dirty="0"/>
          </a:p>
        </p:txBody>
      </p:sp>
      <p:sp>
        <p:nvSpPr>
          <p:cNvPr id="5" name="frame site_dataset_01_posts-per-year.png"/>
          <p:cNvSpPr/>
          <p:nvPr/>
        </p:nvSpPr>
        <p:spPr>
          <a:xfrm>
            <a:off x="5952744" y="1439803"/>
            <a:ext cx="5696712" cy="4435593"/>
          </a:xfrm>
          <a:prstGeom prst="rect">
            <a:avLst/>
          </a:prstGeom>
          <a:solidFill>
            <a:schemeClr val="bg1"/>
          </a:solidFill>
          <a:ln w="9525">
            <a:solidFill>
              <a:srgbClr val="D9D4C7"/>
            </a:solidFill>
            <a:prstDash val="solid"/>
          </a:ln>
        </p:spPr>
      </p:sp>
      <p:pic>
        <p:nvPicPr>
          <p:cNvPr id="6" name="img site_dataset_01_posts-per-year.png" descr="site dataset 01 posts per year">    </p:cNvPr>
          <p:cNvPicPr>
            <a:picLocks noChangeAspect="1"/>
          </p:cNvPicPr>
          <p:nvPr/>
        </p:nvPicPr>
        <p:blipFill>
          <a:blip r:embed="rId1"/>
          <a:stretch>
            <a:fillRect/>
          </a:stretch>
        </p:blipFill>
        <p:spPr>
          <a:xfrm>
            <a:off x="5989320" y="1476379"/>
            <a:ext cx="5623560" cy="4362441"/>
          </a:xfrm>
          <a:prstGeom prst="rect">
            <a:avLst/>
          </a:prstGeom>
        </p:spPr>
      </p:pic>
      <p:sp>
        <p:nvSpPr>
          <p:cNvPr id="7" name="caption"/>
          <p:cNvSpPr txBox="1"/>
          <p:nvPr/>
        </p:nvSpPr>
        <p:spPr>
          <a:xfrm>
            <a:off x="5989320" y="5911973"/>
            <a:ext cx="5623560" cy="274320"/>
          </a:xfrm>
          <a:prstGeom prst="rect">
            <a:avLst/>
          </a:prstGeom>
          <a:noFill/>
          <a:ln/>
        </p:spPr>
        <p:txBody>
          <a:bodyPr wrap="square" lIns="0" tIns="0" rIns="0" bIns="0" rtlCol="0" anchor="ctr"/>
          <a:lstStyle/>
          <a:p>
            <a:pPr algn="ctr" indent="0" marL="0">
              <a:buNone/>
            </a:pPr>
            <a:r>
              <a:rPr lang="en-US" sz="1100" i="1" dirty="0">
                <a:solidFill>
                  <a:schemeClr val="accent5"/>
                </a:solidFill>
              </a:rPr>
              <a:t>Posts per year in the stored collection</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Architecture: from CSV to dashboard</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SYSTEM DESIGN</a:t>
            </a:r>
            <a:endParaRPr lang="en-US" sz="1100" dirty="0"/>
          </a:p>
        </p:txBody>
      </p:sp>
      <p:sp>
        <p:nvSpPr>
          <p:cNvPr id="4" name="frame site_arch_flow.png"/>
          <p:cNvSpPr/>
          <p:nvPr/>
        </p:nvSpPr>
        <p:spPr>
          <a:xfrm>
            <a:off x="512064" y="1380050"/>
            <a:ext cx="11137392" cy="2909180"/>
          </a:xfrm>
          <a:prstGeom prst="rect">
            <a:avLst/>
          </a:prstGeom>
          <a:solidFill>
            <a:schemeClr val="bg1"/>
          </a:solidFill>
          <a:ln w="9525">
            <a:solidFill>
              <a:srgbClr val="D9D4C7"/>
            </a:solidFill>
            <a:prstDash val="solid"/>
          </a:ln>
        </p:spPr>
      </p:sp>
      <p:pic>
        <p:nvPicPr>
          <p:cNvPr id="5" name="img site_arch_flow.png" descr="site arch flow">    </p:cNvPr>
          <p:cNvPicPr>
            <a:picLocks noChangeAspect="1"/>
          </p:cNvPicPr>
          <p:nvPr/>
        </p:nvPicPr>
        <p:blipFill>
          <a:blip r:embed="rId1"/>
          <a:stretch>
            <a:fillRect/>
          </a:stretch>
        </p:blipFill>
        <p:spPr>
          <a:xfrm>
            <a:off x="548640" y="1416626"/>
            <a:ext cx="11064240" cy="2836028"/>
          </a:xfrm>
          <a:prstGeom prst="rect">
            <a:avLst/>
          </a:prstGeom>
        </p:spPr>
      </p:pic>
      <p:sp>
        <p:nvSpPr>
          <p:cNvPr id="6" name="caption"/>
          <p:cNvSpPr txBox="1"/>
          <p:nvPr/>
        </p:nvSpPr>
        <p:spPr>
          <a:xfrm>
            <a:off x="548640" y="4325806"/>
            <a:ext cx="11064240" cy="274320"/>
          </a:xfrm>
          <a:prstGeom prst="rect">
            <a:avLst/>
          </a:prstGeom>
          <a:noFill/>
          <a:ln/>
        </p:spPr>
        <p:txBody>
          <a:bodyPr wrap="square" lIns="0" tIns="0" rIns="0" bIns="0" rtlCol="0" anchor="ctr"/>
          <a:lstStyle/>
          <a:p>
            <a:pPr algn="ctr" indent="0" marL="0">
              <a:buNone/>
            </a:pPr>
            <a:r>
              <a:rPr lang="en-US" sz="1100" i="1" dirty="0">
                <a:solidFill>
                  <a:schemeClr val="accent5"/>
                </a:solidFill>
              </a:rPr>
              <a:t>Data flow of the platform</a:t>
            </a:r>
            <a:endParaRPr lang="en-US" sz="1100" dirty="0"/>
          </a:p>
        </p:txBody>
      </p:sp>
      <p:sp>
        <p:nvSpPr>
          <p:cNvPr id="7" name="card Ingest"/>
          <p:cNvSpPr/>
          <p:nvPr/>
        </p:nvSpPr>
        <p:spPr>
          <a:xfrm>
            <a:off x="548640" y="4663440"/>
            <a:ext cx="2103120" cy="1554480"/>
          </a:xfrm>
          <a:prstGeom prst="roundRect">
            <a:avLst>
              <a:gd name="adj" fmla="val 4706"/>
            </a:avLst>
          </a:prstGeom>
          <a:solidFill>
            <a:schemeClr val="bg2"/>
          </a:solidFill>
          <a:ln w="12700">
            <a:solidFill>
              <a:schemeClr val="bg2"/>
            </a:solidFill>
            <a:prstDash val="solid"/>
          </a:ln>
        </p:spPr>
      </p:sp>
      <p:sp>
        <p:nvSpPr>
          <p:cNvPr id="8" name="card mark Ingest"/>
          <p:cNvSpPr/>
          <p:nvPr/>
        </p:nvSpPr>
        <p:spPr>
          <a:xfrm>
            <a:off x="731520" y="4864608"/>
            <a:ext cx="457200" cy="64008"/>
          </a:xfrm>
          <a:prstGeom prst="rect">
            <a:avLst/>
          </a:prstGeom>
          <a:solidFill>
            <a:schemeClr val="accent2"/>
          </a:solidFill>
          <a:ln w="12700">
            <a:solidFill>
              <a:schemeClr val="accent2"/>
            </a:solidFill>
            <a:prstDash val="solid"/>
          </a:ln>
        </p:spPr>
      </p:sp>
      <p:sp>
        <p:nvSpPr>
          <p:cNvPr id="9" name="card head Ingest"/>
          <p:cNvSpPr txBox="1"/>
          <p:nvPr/>
        </p:nvSpPr>
        <p:spPr>
          <a:xfrm>
            <a:off x="731520" y="5010912"/>
            <a:ext cx="17373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Ingest</a:t>
            </a:r>
            <a:endParaRPr lang="en-US" sz="1700" dirty="0"/>
          </a:p>
        </p:txBody>
      </p:sp>
      <p:sp>
        <p:nvSpPr>
          <p:cNvPr id="10" name="card body Ingest"/>
          <p:cNvSpPr txBox="1"/>
          <p:nvPr/>
        </p:nvSpPr>
        <p:spPr>
          <a:xfrm>
            <a:off x="731520" y="5468112"/>
            <a:ext cx="1737360" cy="640080"/>
          </a:xfrm>
          <a:prstGeom prst="rect">
            <a:avLst/>
          </a:prstGeom>
          <a:noFill/>
          <a:ln/>
        </p:spPr>
        <p:txBody>
          <a:bodyPr wrap="square" lIns="0" tIns="0" rIns="0" bIns="0" rtlCol="0" anchor="t"/>
          <a:lstStyle/>
          <a:p>
            <a:pPr indent="0" marL="0">
              <a:buNone/>
            </a:pPr>
            <a:r>
              <a:rPr lang="en-US" sz="1200" dirty="0">
                <a:solidFill>
                  <a:schemeClr val="tx1"/>
                </a:solidFill>
              </a:rPr>
              <a:t>Stream 13 CSVs, validate, clean, bulk insert in batches.</a:t>
            </a:r>
            <a:endParaRPr lang="en-US" sz="1200" dirty="0"/>
          </a:p>
        </p:txBody>
      </p:sp>
      <p:sp>
        <p:nvSpPr>
          <p:cNvPr id="11" name="card Enrich"/>
          <p:cNvSpPr/>
          <p:nvPr/>
        </p:nvSpPr>
        <p:spPr>
          <a:xfrm>
            <a:off x="2798064" y="4663440"/>
            <a:ext cx="2103120" cy="1554480"/>
          </a:xfrm>
          <a:prstGeom prst="roundRect">
            <a:avLst>
              <a:gd name="adj" fmla="val 4706"/>
            </a:avLst>
          </a:prstGeom>
          <a:solidFill>
            <a:schemeClr val="bg2"/>
          </a:solidFill>
          <a:ln w="12700">
            <a:solidFill>
              <a:schemeClr val="bg2"/>
            </a:solidFill>
            <a:prstDash val="solid"/>
          </a:ln>
        </p:spPr>
      </p:sp>
      <p:sp>
        <p:nvSpPr>
          <p:cNvPr id="12" name="card mark Enrich"/>
          <p:cNvSpPr/>
          <p:nvPr/>
        </p:nvSpPr>
        <p:spPr>
          <a:xfrm>
            <a:off x="2980944" y="4864608"/>
            <a:ext cx="457200" cy="64008"/>
          </a:xfrm>
          <a:prstGeom prst="rect">
            <a:avLst/>
          </a:prstGeom>
          <a:solidFill>
            <a:schemeClr val="accent3"/>
          </a:solidFill>
          <a:ln w="12700">
            <a:solidFill>
              <a:schemeClr val="accent3"/>
            </a:solidFill>
            <a:prstDash val="solid"/>
          </a:ln>
        </p:spPr>
      </p:sp>
      <p:sp>
        <p:nvSpPr>
          <p:cNvPr id="13" name="card head Enrich"/>
          <p:cNvSpPr txBox="1"/>
          <p:nvPr/>
        </p:nvSpPr>
        <p:spPr>
          <a:xfrm>
            <a:off x="2980944" y="5010912"/>
            <a:ext cx="17373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Enrich</a:t>
            </a:r>
            <a:endParaRPr lang="en-US" sz="1700" dirty="0"/>
          </a:p>
        </p:txBody>
      </p:sp>
      <p:sp>
        <p:nvSpPr>
          <p:cNvPr id="14" name="card body Enrich"/>
          <p:cNvSpPr txBox="1"/>
          <p:nvPr/>
        </p:nvSpPr>
        <p:spPr>
          <a:xfrm>
            <a:off x="2980944" y="5468112"/>
            <a:ext cx="1737360" cy="640080"/>
          </a:xfrm>
          <a:prstGeom prst="rect">
            <a:avLst/>
          </a:prstGeom>
          <a:noFill/>
          <a:ln/>
        </p:spPr>
        <p:txBody>
          <a:bodyPr wrap="square" lIns="0" tIns="0" rIns="0" bIns="0" rtlCol="0" anchor="t"/>
          <a:lstStyle/>
          <a:p>
            <a:pPr indent="0" marL="0">
              <a:buNone/>
            </a:pPr>
            <a:r>
              <a:rPr lang="en-US" sz="1200" dirty="0">
                <a:solidFill>
                  <a:schemeClr val="tx1"/>
                </a:solidFill>
              </a:rPr>
              <a:t>Sentiment, topics and keywords, written back with bulk updates.</a:t>
            </a:r>
            <a:endParaRPr lang="en-US" sz="1200" dirty="0"/>
          </a:p>
        </p:txBody>
      </p:sp>
      <p:sp>
        <p:nvSpPr>
          <p:cNvPr id="15" name="card Aggregate"/>
          <p:cNvSpPr/>
          <p:nvPr/>
        </p:nvSpPr>
        <p:spPr>
          <a:xfrm>
            <a:off x="5047488" y="4663440"/>
            <a:ext cx="2103120" cy="1554480"/>
          </a:xfrm>
          <a:prstGeom prst="roundRect">
            <a:avLst>
              <a:gd name="adj" fmla="val 4706"/>
            </a:avLst>
          </a:prstGeom>
          <a:solidFill>
            <a:schemeClr val="bg2"/>
          </a:solidFill>
          <a:ln w="12700">
            <a:solidFill>
              <a:schemeClr val="bg2"/>
            </a:solidFill>
            <a:prstDash val="solid"/>
          </a:ln>
        </p:spPr>
      </p:sp>
      <p:sp>
        <p:nvSpPr>
          <p:cNvPr id="16" name="card mark Aggregate"/>
          <p:cNvSpPr/>
          <p:nvPr/>
        </p:nvSpPr>
        <p:spPr>
          <a:xfrm>
            <a:off x="5230368" y="4864608"/>
            <a:ext cx="457200" cy="64008"/>
          </a:xfrm>
          <a:prstGeom prst="rect">
            <a:avLst/>
          </a:prstGeom>
          <a:solidFill>
            <a:schemeClr val="accent2"/>
          </a:solidFill>
          <a:ln w="12700">
            <a:solidFill>
              <a:schemeClr val="accent2"/>
            </a:solidFill>
            <a:prstDash val="solid"/>
          </a:ln>
        </p:spPr>
      </p:sp>
      <p:sp>
        <p:nvSpPr>
          <p:cNvPr id="17" name="card head Aggregate"/>
          <p:cNvSpPr txBox="1"/>
          <p:nvPr/>
        </p:nvSpPr>
        <p:spPr>
          <a:xfrm>
            <a:off x="5230368" y="5010912"/>
            <a:ext cx="17373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Aggregate</a:t>
            </a:r>
            <a:endParaRPr lang="en-US" sz="1700" dirty="0"/>
          </a:p>
        </p:txBody>
      </p:sp>
      <p:sp>
        <p:nvSpPr>
          <p:cNvPr id="18" name="card body Aggregate"/>
          <p:cNvSpPr txBox="1"/>
          <p:nvPr/>
        </p:nvSpPr>
        <p:spPr>
          <a:xfrm>
            <a:off x="5230368" y="5468112"/>
            <a:ext cx="1737360" cy="640080"/>
          </a:xfrm>
          <a:prstGeom prst="rect">
            <a:avLst/>
          </a:prstGeom>
          <a:noFill/>
          <a:ln/>
        </p:spPr>
        <p:txBody>
          <a:bodyPr wrap="square" lIns="0" tIns="0" rIns="0" bIns="0" rtlCol="0" anchor="t"/>
          <a:lstStyle/>
          <a:p>
            <a:pPr indent="0" marL="0">
              <a:buNone/>
            </a:pPr>
            <a:r>
              <a:rPr lang="en-US" sz="1200" dirty="0">
                <a:solidFill>
                  <a:schemeClr val="tx1"/>
                </a:solidFill>
              </a:rPr>
              <a:t>Daily, hourly, hashtag, keyword and account rollups.</a:t>
            </a:r>
            <a:endParaRPr lang="en-US" sz="1200" dirty="0"/>
          </a:p>
        </p:txBody>
      </p:sp>
      <p:sp>
        <p:nvSpPr>
          <p:cNvPr id="19" name="card Serve"/>
          <p:cNvSpPr/>
          <p:nvPr/>
        </p:nvSpPr>
        <p:spPr>
          <a:xfrm>
            <a:off x="7296912" y="4663440"/>
            <a:ext cx="2103120" cy="1554480"/>
          </a:xfrm>
          <a:prstGeom prst="roundRect">
            <a:avLst>
              <a:gd name="adj" fmla="val 4706"/>
            </a:avLst>
          </a:prstGeom>
          <a:solidFill>
            <a:schemeClr val="bg2"/>
          </a:solidFill>
          <a:ln w="12700">
            <a:solidFill>
              <a:schemeClr val="bg2"/>
            </a:solidFill>
            <a:prstDash val="solid"/>
          </a:ln>
        </p:spPr>
      </p:sp>
      <p:sp>
        <p:nvSpPr>
          <p:cNvPr id="20" name="card mark Serve"/>
          <p:cNvSpPr/>
          <p:nvPr/>
        </p:nvSpPr>
        <p:spPr>
          <a:xfrm>
            <a:off x="7479792" y="4864608"/>
            <a:ext cx="457200" cy="64008"/>
          </a:xfrm>
          <a:prstGeom prst="rect">
            <a:avLst/>
          </a:prstGeom>
          <a:solidFill>
            <a:schemeClr val="accent3"/>
          </a:solidFill>
          <a:ln w="12700">
            <a:solidFill>
              <a:schemeClr val="accent3"/>
            </a:solidFill>
            <a:prstDash val="solid"/>
          </a:ln>
        </p:spPr>
      </p:sp>
      <p:sp>
        <p:nvSpPr>
          <p:cNvPr id="21" name="card head Serve"/>
          <p:cNvSpPr txBox="1"/>
          <p:nvPr/>
        </p:nvSpPr>
        <p:spPr>
          <a:xfrm>
            <a:off x="7479792" y="5010912"/>
            <a:ext cx="17373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Serve</a:t>
            </a:r>
            <a:endParaRPr lang="en-US" sz="1700" dirty="0"/>
          </a:p>
        </p:txBody>
      </p:sp>
      <p:sp>
        <p:nvSpPr>
          <p:cNvPr id="22" name="card body Serve"/>
          <p:cNvSpPr txBox="1"/>
          <p:nvPr/>
        </p:nvSpPr>
        <p:spPr>
          <a:xfrm>
            <a:off x="7479792" y="5468112"/>
            <a:ext cx="1737360" cy="640080"/>
          </a:xfrm>
          <a:prstGeom prst="rect">
            <a:avLst/>
          </a:prstGeom>
          <a:noFill/>
          <a:ln/>
        </p:spPr>
        <p:txBody>
          <a:bodyPr wrap="square" lIns="0" tIns="0" rIns="0" bIns="0" rtlCol="0" anchor="t"/>
          <a:lstStyle/>
          <a:p>
            <a:pPr indent="0" marL="0">
              <a:buNone/>
            </a:pPr>
            <a:r>
              <a:rPr lang="en-US" sz="1200" dirty="0">
                <a:solidFill>
                  <a:schemeClr val="tx1"/>
                </a:solidFill>
              </a:rPr>
              <a:t>FastAPI with a query planner: rollup or live pipeline.</a:t>
            </a:r>
            <a:endParaRPr lang="en-US" sz="1200" dirty="0"/>
          </a:p>
        </p:txBody>
      </p:sp>
      <p:sp>
        <p:nvSpPr>
          <p:cNvPr id="23" name="card Explore"/>
          <p:cNvSpPr/>
          <p:nvPr/>
        </p:nvSpPr>
        <p:spPr>
          <a:xfrm>
            <a:off x="9546336" y="4663440"/>
            <a:ext cx="2103120" cy="1554480"/>
          </a:xfrm>
          <a:prstGeom prst="roundRect">
            <a:avLst>
              <a:gd name="adj" fmla="val 4706"/>
            </a:avLst>
          </a:prstGeom>
          <a:solidFill>
            <a:schemeClr val="bg2"/>
          </a:solidFill>
          <a:ln w="12700">
            <a:solidFill>
              <a:schemeClr val="bg2"/>
            </a:solidFill>
            <a:prstDash val="solid"/>
          </a:ln>
        </p:spPr>
      </p:sp>
      <p:sp>
        <p:nvSpPr>
          <p:cNvPr id="24" name="card mark Explore"/>
          <p:cNvSpPr/>
          <p:nvPr/>
        </p:nvSpPr>
        <p:spPr>
          <a:xfrm>
            <a:off x="9729216" y="4864608"/>
            <a:ext cx="457200" cy="64008"/>
          </a:xfrm>
          <a:prstGeom prst="rect">
            <a:avLst/>
          </a:prstGeom>
          <a:solidFill>
            <a:schemeClr val="accent2"/>
          </a:solidFill>
          <a:ln w="12700">
            <a:solidFill>
              <a:schemeClr val="accent2"/>
            </a:solidFill>
            <a:prstDash val="solid"/>
          </a:ln>
        </p:spPr>
      </p:sp>
      <p:sp>
        <p:nvSpPr>
          <p:cNvPr id="25" name="card head Explore"/>
          <p:cNvSpPr txBox="1"/>
          <p:nvPr/>
        </p:nvSpPr>
        <p:spPr>
          <a:xfrm>
            <a:off x="9729216" y="5010912"/>
            <a:ext cx="17373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Explore</a:t>
            </a:r>
            <a:endParaRPr lang="en-US" sz="1700" dirty="0"/>
          </a:p>
        </p:txBody>
      </p:sp>
      <p:sp>
        <p:nvSpPr>
          <p:cNvPr id="26" name="card body Explore"/>
          <p:cNvSpPr txBox="1"/>
          <p:nvPr/>
        </p:nvSpPr>
        <p:spPr>
          <a:xfrm>
            <a:off x="9729216" y="5468112"/>
            <a:ext cx="1737360" cy="640080"/>
          </a:xfrm>
          <a:prstGeom prst="rect">
            <a:avLst/>
          </a:prstGeom>
          <a:noFill/>
          <a:ln/>
        </p:spPr>
        <p:txBody>
          <a:bodyPr wrap="square" lIns="0" tIns="0" rIns="0" bIns="0" rtlCol="0" anchor="t"/>
          <a:lstStyle/>
          <a:p>
            <a:pPr indent="0" marL="0">
              <a:buNone/>
            </a:pPr>
            <a:r>
              <a:rPr lang="en-US" sz="1200" dirty="0">
                <a:solidFill>
                  <a:schemeClr val="tx1"/>
                </a:solidFill>
              </a:rPr>
              <a:t>React dashboard with filters and a data explorer.</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Technology stack</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SYSTEM DESIGN</a:t>
            </a:r>
            <a:endParaRPr lang="en-US" sz="1100" dirty="0"/>
          </a:p>
        </p:txBody>
      </p:sp>
      <p:sp>
        <p:nvSpPr>
          <p:cNvPr id="4" name="frame site_arch_stack.png"/>
          <p:cNvSpPr/>
          <p:nvPr/>
        </p:nvSpPr>
        <p:spPr>
          <a:xfrm>
            <a:off x="512064" y="1954807"/>
            <a:ext cx="5193792" cy="3588466"/>
          </a:xfrm>
          <a:prstGeom prst="rect">
            <a:avLst/>
          </a:prstGeom>
          <a:solidFill>
            <a:schemeClr val="bg1"/>
          </a:solidFill>
          <a:ln w="9525">
            <a:solidFill>
              <a:srgbClr val="D9D4C7"/>
            </a:solidFill>
            <a:prstDash val="solid"/>
          </a:ln>
        </p:spPr>
      </p:sp>
      <p:pic>
        <p:nvPicPr>
          <p:cNvPr id="5" name="img site_arch_stack.png" descr="site arch stack">    </p:cNvPr>
          <p:cNvPicPr>
            <a:picLocks noChangeAspect="1"/>
          </p:cNvPicPr>
          <p:nvPr/>
        </p:nvPicPr>
        <p:blipFill>
          <a:blip r:embed="rId1"/>
          <a:stretch>
            <a:fillRect/>
          </a:stretch>
        </p:blipFill>
        <p:spPr>
          <a:xfrm>
            <a:off x="548640" y="1991383"/>
            <a:ext cx="5120640" cy="3515314"/>
          </a:xfrm>
          <a:prstGeom prst="rect">
            <a:avLst/>
          </a:prstGeom>
        </p:spPr>
      </p:pic>
      <p:sp>
        <p:nvSpPr>
          <p:cNvPr id="6" name="bullets"/>
          <p:cNvSpPr txBox="1"/>
          <p:nvPr/>
        </p:nvSpPr>
        <p:spPr>
          <a:xfrm>
            <a:off x="5989320" y="1463040"/>
            <a:ext cx="5623560" cy="466344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chemeClr val="tx2"/>
                </a:solidFill>
              </a:rPr>
              <a:t>MongoDB 8: </a:t>
            </a:r>
            <a:pPr indent="0" marL="0">
              <a:buNone/>
            </a:pPr>
            <a:r>
              <a:rPr lang="en-US" sz="1400" dirty="0">
                <a:solidFill>
                  <a:schemeClr val="tx1"/>
                </a:solidFill>
              </a:rPr>
              <a:t>storage and the main compute engine (aggregation, $setWindowFields, rollups).</a:t>
            </a:r>
            <a:endParaRPr lang="en-US" sz="1400" dirty="0"/>
          </a:p>
          <a:p>
            <a:pPr marL="228600" indent="-228600">
              <a:spcAft>
                <a:spcPts val="800"/>
              </a:spcAft>
              <a:buSzPct val="100000"/>
              <a:buChar char="•"/>
            </a:pPr>
            <a:r>
              <a:rPr lang="en-US" sz="1400" b="1" dirty="0">
                <a:solidFill>
                  <a:schemeClr val="tx2"/>
                </a:solidFill>
              </a:rPr>
              <a:t>Python 3.13: </a:t>
            </a:r>
            <a:pPr indent="0" marL="0">
              <a:buNone/>
            </a:pPr>
            <a:r>
              <a:rPr lang="en-US" sz="1400" dirty="0">
                <a:solidFill>
                  <a:schemeClr val="tx1"/>
                </a:solidFill>
              </a:rPr>
              <a:t>streaming ingestion, cleaning with multiprocessing, PyMongo bulk writes.</a:t>
            </a:r>
            <a:endParaRPr lang="en-US" sz="1400" dirty="0"/>
          </a:p>
          <a:p>
            <a:pPr marL="228600" indent="-228600">
              <a:spcAft>
                <a:spcPts val="800"/>
              </a:spcAft>
              <a:buSzPct val="100000"/>
              <a:buChar char="•"/>
            </a:pPr>
            <a:r>
              <a:rPr lang="en-US" sz="1400" b="1" dirty="0">
                <a:solidFill>
                  <a:schemeClr val="tx2"/>
                </a:solidFill>
              </a:rPr>
              <a:t>scikit-learn and VADER: </a:t>
            </a:r>
            <a:pPr indent="0" marL="0">
              <a:buNone/>
            </a:pPr>
            <a:r>
              <a:rPr lang="en-US" sz="1400" dirty="0">
                <a:solidFill>
                  <a:schemeClr val="tx1"/>
                </a:solidFill>
              </a:rPr>
              <a:t>TF-IDF, logistic regression, Naive Bayes and NMF topics.</a:t>
            </a:r>
            <a:endParaRPr lang="en-US" sz="1400" dirty="0"/>
          </a:p>
          <a:p>
            <a:pPr marL="228600" indent="-228600">
              <a:spcAft>
                <a:spcPts val="800"/>
              </a:spcAft>
              <a:buSzPct val="100000"/>
              <a:buChar char="•"/>
            </a:pPr>
            <a:r>
              <a:rPr lang="en-US" sz="1400" b="1" dirty="0">
                <a:solidFill>
                  <a:schemeClr val="tx2"/>
                </a:solidFill>
              </a:rPr>
              <a:t>FastAPI: </a:t>
            </a:r>
            <a:pPr indent="0" marL="0">
              <a:buNone/>
            </a:pPr>
            <a:r>
              <a:rPr lang="en-US" sz="1400" dirty="0">
                <a:solidFill>
                  <a:schemeClr val="tx1"/>
                </a:solidFill>
              </a:rPr>
              <a:t>REST endpoints and a planner that picks rollups or live pipelines.</a:t>
            </a:r>
            <a:endParaRPr lang="en-US" sz="1400" dirty="0"/>
          </a:p>
          <a:p>
            <a:pPr marL="228600" indent="-228600">
              <a:spcAft>
                <a:spcPts val="800"/>
              </a:spcAft>
              <a:buSzPct val="100000"/>
              <a:buChar char="•"/>
            </a:pPr>
            <a:r>
              <a:rPr lang="en-US" sz="1400" b="1" dirty="0">
                <a:solidFill>
                  <a:schemeClr val="tx2"/>
                </a:solidFill>
              </a:rPr>
              <a:t>React and Vite: </a:t>
            </a:r>
            <a:pPr indent="0" marL="0">
              <a:buNone/>
            </a:pPr>
            <a:r>
              <a:rPr lang="en-US" sz="1400" dirty="0">
                <a:solidFill>
                  <a:schemeClr val="tx1"/>
                </a:solidFill>
              </a:rPr>
              <a:t>the dashboard and the showcase website.</a:t>
            </a:r>
            <a:endParaRPr lang="en-US" sz="1400" dirty="0"/>
          </a:p>
          <a:p>
            <a:pPr marL="228600" indent="-228600">
              <a:spcAft>
                <a:spcPts val="800"/>
              </a:spcAft>
              <a:buSzPct val="100000"/>
              <a:buChar char="•"/>
            </a:pPr>
            <a:r>
              <a:rPr lang="en-US" sz="1400" b="1" dirty="0">
                <a:solidFill>
                  <a:schemeClr val="tx2"/>
                </a:solidFill>
              </a:rPr>
              <a:t>Apache Spark 4.2 and Parquet: </a:t>
            </a:r>
            <a:pPr indent="0" marL="0">
              <a:buNone/>
            </a:pPr>
            <a:r>
              <a:rPr lang="en-US" sz="1400" dirty="0">
                <a:solidFill>
                  <a:schemeClr val="tx1"/>
                </a:solidFill>
              </a:rPr>
              <a:t>the Big Data Lab data lake.</a:t>
            </a:r>
            <a:endParaRPr lang="en-US" sz="1400" dirty="0"/>
          </a:p>
          <a:p>
            <a:pPr marL="228600" indent="-228600">
              <a:spcAft>
                <a:spcPts val="800"/>
              </a:spcAft>
              <a:buSzPct val="100000"/>
              <a:buChar char="•"/>
            </a:pPr>
            <a:r>
              <a:rPr lang="en-US" sz="1400" b="1" dirty="0">
                <a:solidFill>
                  <a:schemeClr val="tx2"/>
                </a:solidFill>
              </a:rPr>
              <a:t>Sharded MongoDB: </a:t>
            </a:r>
            <a:pPr indent="0" marL="0">
              <a:buNone/>
            </a:pPr>
            <a:r>
              <a:rPr lang="en-US" sz="1400" dirty="0">
                <a:solidFill>
                  <a:schemeClr val="tx1"/>
                </a:solidFill>
              </a:rPr>
              <a:t>config server, three shards and mongos via Docker Compose.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The five Vs in this project</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BIG DATA CHARACTERISTICS</a:t>
            </a:r>
            <a:endParaRPr lang="en-US" sz="1100" dirty="0"/>
          </a:p>
        </p:txBody>
      </p:sp>
      <p:sp>
        <p:nvSpPr>
          <p:cNvPr id="4" name="card Volume"/>
          <p:cNvSpPr/>
          <p:nvPr/>
        </p:nvSpPr>
        <p:spPr>
          <a:xfrm>
            <a:off x="548640" y="1463040"/>
            <a:ext cx="2103120" cy="4663440"/>
          </a:xfrm>
          <a:prstGeom prst="roundRect">
            <a:avLst>
              <a:gd name="adj" fmla="val 3478"/>
            </a:avLst>
          </a:prstGeom>
          <a:solidFill>
            <a:schemeClr val="bg2"/>
          </a:solidFill>
          <a:ln w="12700">
            <a:solidFill>
              <a:schemeClr val="bg2"/>
            </a:solidFill>
            <a:prstDash val="solid"/>
          </a:ln>
        </p:spPr>
      </p:sp>
      <p:sp>
        <p:nvSpPr>
          <p:cNvPr id="5" name="card mark Volume"/>
          <p:cNvSpPr/>
          <p:nvPr/>
        </p:nvSpPr>
        <p:spPr>
          <a:xfrm>
            <a:off x="731520" y="1664208"/>
            <a:ext cx="457200" cy="64008"/>
          </a:xfrm>
          <a:prstGeom prst="rect">
            <a:avLst/>
          </a:prstGeom>
          <a:solidFill>
            <a:schemeClr val="accent2"/>
          </a:solidFill>
          <a:ln w="12700">
            <a:solidFill>
              <a:schemeClr val="accent2"/>
            </a:solidFill>
            <a:prstDash val="solid"/>
          </a:ln>
        </p:spPr>
      </p:sp>
      <p:sp>
        <p:nvSpPr>
          <p:cNvPr id="6" name="card head Volume"/>
          <p:cNvSpPr txBox="1"/>
          <p:nvPr/>
        </p:nvSpPr>
        <p:spPr>
          <a:xfrm>
            <a:off x="731520" y="1810512"/>
            <a:ext cx="17373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Volume</a:t>
            </a:r>
            <a:endParaRPr lang="en-US" sz="1700" dirty="0"/>
          </a:p>
        </p:txBody>
      </p:sp>
      <p:sp>
        <p:nvSpPr>
          <p:cNvPr id="7" name="card body Volume"/>
          <p:cNvSpPr txBox="1"/>
          <p:nvPr/>
        </p:nvSpPr>
        <p:spPr>
          <a:xfrm>
            <a:off x="731520" y="2267712"/>
            <a:ext cx="1737360" cy="3749040"/>
          </a:xfrm>
          <a:prstGeom prst="rect">
            <a:avLst/>
          </a:prstGeom>
          <a:noFill/>
          <a:ln/>
        </p:spPr>
        <p:txBody>
          <a:bodyPr wrap="square" lIns="0" tIns="0" rIns="0" bIns="0" rtlCol="0" anchor="t"/>
          <a:lstStyle/>
          <a:p>
            <a:pPr indent="0" marL="0">
              <a:buNone/>
            </a:pPr>
            <a:r>
              <a:rPr lang="en-US" sz="1500" dirty="0">
                <a:solidFill>
                  <a:schemeClr val="tx1"/>
                </a:solidFill>
              </a:rPr>
              <a:t>2.94M posts and 1.14 GB of raw CSV; a 4.4M-row keyword rollup.</a:t>
            </a:r>
            <a:endParaRPr lang="en-US" sz="1500" dirty="0"/>
          </a:p>
        </p:txBody>
      </p:sp>
      <p:sp>
        <p:nvSpPr>
          <p:cNvPr id="8" name="how Volume"/>
          <p:cNvSpPr txBox="1"/>
          <p:nvPr/>
        </p:nvSpPr>
        <p:spPr>
          <a:xfrm>
            <a:off x="731520" y="3977640"/>
            <a:ext cx="1737360" cy="2011680"/>
          </a:xfrm>
          <a:prstGeom prst="rect">
            <a:avLst/>
          </a:prstGeom>
          <a:noFill/>
          <a:ln/>
        </p:spPr>
        <p:txBody>
          <a:bodyPr wrap="square" lIns="0" tIns="0" rIns="0" bIns="0" rtlCol="0" anchor="t"/>
          <a:lstStyle/>
          <a:p>
            <a:pPr indent="0" marL="0">
              <a:buNone/>
            </a:pPr>
            <a:r>
              <a:rPr lang="en-US" sz="1200" b="1" dirty="0">
                <a:solidFill>
                  <a:schemeClr val="accent2"/>
                </a:solidFill>
              </a:rPr>
              <a:t>How we handle it</a:t>
            </a:r>
            <a:endParaRPr lang="en-US" sz="1200" dirty="0"/>
          </a:p>
          <a:p>
            <a:pPr indent="0" marL="0">
              <a:buNone/>
            </a:pPr>
            <a:r>
              <a:rPr lang="en-US" sz="1400" dirty="0">
                <a:solidFill>
                  <a:schemeClr val="tx1"/>
                </a:solidFill>
              </a:rPr>
              <a:t>Streaming readers, bulk writes, Parquet compression.</a:t>
            </a:r>
            <a:endParaRPr lang="en-US" sz="1200" dirty="0"/>
          </a:p>
        </p:txBody>
      </p:sp>
      <p:sp>
        <p:nvSpPr>
          <p:cNvPr id="9" name="rule Volume"/>
          <p:cNvSpPr/>
          <p:nvPr/>
        </p:nvSpPr>
        <p:spPr>
          <a:xfrm>
            <a:off x="731520" y="3794760"/>
            <a:ext cx="1737360" cy="0"/>
          </a:xfrm>
          <a:prstGeom prst="line">
            <a:avLst/>
          </a:prstGeom>
          <a:noFill/>
          <a:ln w="12700">
            <a:solidFill>
              <a:srgbClr val="D9D4C7"/>
            </a:solidFill>
            <a:prstDash val="solid"/>
          </a:ln>
        </p:spPr>
      </p:sp>
      <p:sp>
        <p:nvSpPr>
          <p:cNvPr id="10" name="card Velocity"/>
          <p:cNvSpPr/>
          <p:nvPr/>
        </p:nvSpPr>
        <p:spPr>
          <a:xfrm>
            <a:off x="2798064" y="1463040"/>
            <a:ext cx="2103120" cy="4663440"/>
          </a:xfrm>
          <a:prstGeom prst="roundRect">
            <a:avLst>
              <a:gd name="adj" fmla="val 3478"/>
            </a:avLst>
          </a:prstGeom>
          <a:solidFill>
            <a:schemeClr val="bg2"/>
          </a:solidFill>
          <a:ln w="12700">
            <a:solidFill>
              <a:schemeClr val="bg2"/>
            </a:solidFill>
            <a:prstDash val="solid"/>
          </a:ln>
        </p:spPr>
      </p:sp>
      <p:sp>
        <p:nvSpPr>
          <p:cNvPr id="11" name="card mark Velocity"/>
          <p:cNvSpPr/>
          <p:nvPr/>
        </p:nvSpPr>
        <p:spPr>
          <a:xfrm>
            <a:off x="2980944" y="1664208"/>
            <a:ext cx="457200" cy="64008"/>
          </a:xfrm>
          <a:prstGeom prst="rect">
            <a:avLst/>
          </a:prstGeom>
          <a:solidFill>
            <a:schemeClr val="accent3"/>
          </a:solidFill>
          <a:ln w="12700">
            <a:solidFill>
              <a:schemeClr val="accent3"/>
            </a:solidFill>
            <a:prstDash val="solid"/>
          </a:ln>
        </p:spPr>
      </p:sp>
      <p:sp>
        <p:nvSpPr>
          <p:cNvPr id="12" name="card head Velocity"/>
          <p:cNvSpPr txBox="1"/>
          <p:nvPr/>
        </p:nvSpPr>
        <p:spPr>
          <a:xfrm>
            <a:off x="2980944" y="1810512"/>
            <a:ext cx="17373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Velocity</a:t>
            </a:r>
            <a:endParaRPr lang="en-US" sz="1700" dirty="0"/>
          </a:p>
        </p:txBody>
      </p:sp>
      <p:sp>
        <p:nvSpPr>
          <p:cNvPr id="13" name="card body Velocity"/>
          <p:cNvSpPr txBox="1"/>
          <p:nvPr/>
        </p:nvSpPr>
        <p:spPr>
          <a:xfrm>
            <a:off x="2980944" y="2267712"/>
            <a:ext cx="1737360" cy="3749040"/>
          </a:xfrm>
          <a:prstGeom prst="rect">
            <a:avLst/>
          </a:prstGeom>
          <a:noFill/>
          <a:ln/>
        </p:spPr>
        <p:txBody>
          <a:bodyPr wrap="square" lIns="0" tIns="0" rIns="0" bIns="0" rtlCol="0" anchor="t"/>
          <a:lstStyle/>
          <a:p>
            <a:pPr indent="0" marL="0">
              <a:buNone/>
            </a:pPr>
            <a:r>
              <a:rPr lang="en-US" sz="1500" dirty="0">
                <a:solidFill>
                  <a:schemeClr val="tx1"/>
                </a:solidFill>
              </a:rPr>
              <a:t>Batch: about 10,000 records/s ingest and 20,000 rows/s in Spark.</a:t>
            </a:r>
            <a:endParaRPr lang="en-US" sz="1500" dirty="0"/>
          </a:p>
        </p:txBody>
      </p:sp>
      <p:sp>
        <p:nvSpPr>
          <p:cNvPr id="14" name="how Velocity"/>
          <p:cNvSpPr txBox="1"/>
          <p:nvPr/>
        </p:nvSpPr>
        <p:spPr>
          <a:xfrm>
            <a:off x="2980944" y="3977640"/>
            <a:ext cx="1737360" cy="2011680"/>
          </a:xfrm>
          <a:prstGeom prst="rect">
            <a:avLst/>
          </a:prstGeom>
          <a:noFill/>
          <a:ln/>
        </p:spPr>
        <p:txBody>
          <a:bodyPr wrap="square" lIns="0" tIns="0" rIns="0" bIns="0" rtlCol="0" anchor="t"/>
          <a:lstStyle/>
          <a:p>
            <a:pPr indent="0" marL="0">
              <a:buNone/>
            </a:pPr>
            <a:r>
              <a:rPr lang="en-US" sz="1200" b="1" dirty="0">
                <a:solidFill>
                  <a:schemeClr val="accent3"/>
                </a:solidFill>
              </a:rPr>
              <a:t>How we handle it</a:t>
            </a:r>
            <a:endParaRPr lang="en-US" sz="1200" dirty="0"/>
          </a:p>
          <a:p>
            <a:pPr indent="0" marL="0">
              <a:buNone/>
            </a:pPr>
            <a:r>
              <a:rPr lang="en-US" sz="1400" dirty="0">
                <a:solidFill>
                  <a:schemeClr val="tx1"/>
                </a:solidFill>
              </a:rPr>
              <a:t>Batches of 5,000, parallel workers, incremental rollups.</a:t>
            </a:r>
            <a:endParaRPr lang="en-US" sz="1200" dirty="0"/>
          </a:p>
        </p:txBody>
      </p:sp>
      <p:sp>
        <p:nvSpPr>
          <p:cNvPr id="15" name="rule Velocity"/>
          <p:cNvSpPr/>
          <p:nvPr/>
        </p:nvSpPr>
        <p:spPr>
          <a:xfrm>
            <a:off x="2980944" y="3794760"/>
            <a:ext cx="1737360" cy="0"/>
          </a:xfrm>
          <a:prstGeom prst="line">
            <a:avLst/>
          </a:prstGeom>
          <a:noFill/>
          <a:ln w="12700">
            <a:solidFill>
              <a:srgbClr val="D9D4C7"/>
            </a:solidFill>
            <a:prstDash val="solid"/>
          </a:ln>
        </p:spPr>
      </p:sp>
      <p:sp>
        <p:nvSpPr>
          <p:cNvPr id="16" name="card Variety"/>
          <p:cNvSpPr/>
          <p:nvPr/>
        </p:nvSpPr>
        <p:spPr>
          <a:xfrm>
            <a:off x="5047488" y="1463040"/>
            <a:ext cx="2103120" cy="4663440"/>
          </a:xfrm>
          <a:prstGeom prst="roundRect">
            <a:avLst>
              <a:gd name="adj" fmla="val 3478"/>
            </a:avLst>
          </a:prstGeom>
          <a:solidFill>
            <a:schemeClr val="bg2"/>
          </a:solidFill>
          <a:ln w="12700">
            <a:solidFill>
              <a:schemeClr val="bg2"/>
            </a:solidFill>
            <a:prstDash val="solid"/>
          </a:ln>
        </p:spPr>
      </p:sp>
      <p:sp>
        <p:nvSpPr>
          <p:cNvPr id="17" name="card mark Variety"/>
          <p:cNvSpPr/>
          <p:nvPr/>
        </p:nvSpPr>
        <p:spPr>
          <a:xfrm>
            <a:off x="5230368" y="1664208"/>
            <a:ext cx="457200" cy="64008"/>
          </a:xfrm>
          <a:prstGeom prst="rect">
            <a:avLst/>
          </a:prstGeom>
          <a:solidFill>
            <a:schemeClr val="accent2"/>
          </a:solidFill>
          <a:ln w="12700">
            <a:solidFill>
              <a:schemeClr val="accent2"/>
            </a:solidFill>
            <a:prstDash val="solid"/>
          </a:ln>
        </p:spPr>
      </p:sp>
      <p:sp>
        <p:nvSpPr>
          <p:cNvPr id="18" name="card head Variety"/>
          <p:cNvSpPr txBox="1"/>
          <p:nvPr/>
        </p:nvSpPr>
        <p:spPr>
          <a:xfrm>
            <a:off x="5230368" y="1810512"/>
            <a:ext cx="17373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Variety</a:t>
            </a:r>
            <a:endParaRPr lang="en-US" sz="1700" dirty="0"/>
          </a:p>
        </p:txBody>
      </p:sp>
      <p:sp>
        <p:nvSpPr>
          <p:cNvPr id="19" name="card body Variety"/>
          <p:cNvSpPr txBox="1"/>
          <p:nvPr/>
        </p:nvSpPr>
        <p:spPr>
          <a:xfrm>
            <a:off x="5230368" y="2267712"/>
            <a:ext cx="1737360" cy="3749040"/>
          </a:xfrm>
          <a:prstGeom prst="rect">
            <a:avLst/>
          </a:prstGeom>
          <a:noFill/>
          <a:ln/>
        </p:spPr>
        <p:txBody>
          <a:bodyPr wrap="square" lIns="0" tIns="0" rIns="0" bIns="0" rtlCol="0" anchor="t"/>
          <a:lstStyle/>
          <a:p>
            <a:pPr indent="0" marL="0">
              <a:buNone/>
            </a:pPr>
            <a:r>
              <a:rPr lang="en-US" sz="1500" dirty="0">
                <a:solidFill>
                  <a:schemeClr val="tx1"/>
                </a:solidFill>
              </a:rPr>
              <a:t>Text, timestamps, numbers and categories in 50+ languages.</a:t>
            </a:r>
            <a:endParaRPr lang="en-US" sz="1500" dirty="0"/>
          </a:p>
        </p:txBody>
      </p:sp>
      <p:sp>
        <p:nvSpPr>
          <p:cNvPr id="20" name="how Variety"/>
          <p:cNvSpPr txBox="1"/>
          <p:nvPr/>
        </p:nvSpPr>
        <p:spPr>
          <a:xfrm>
            <a:off x="5230368" y="3977640"/>
            <a:ext cx="1737360" cy="2011680"/>
          </a:xfrm>
          <a:prstGeom prst="rect">
            <a:avLst/>
          </a:prstGeom>
          <a:noFill/>
          <a:ln/>
        </p:spPr>
        <p:txBody>
          <a:bodyPr wrap="square" lIns="0" tIns="0" rIns="0" bIns="0" rtlCol="0" anchor="t"/>
          <a:lstStyle/>
          <a:p>
            <a:pPr indent="0" marL="0">
              <a:buNone/>
            </a:pPr>
            <a:r>
              <a:rPr lang="en-US" sz="1200" b="1" dirty="0">
                <a:solidFill>
                  <a:schemeClr val="accent2"/>
                </a:solidFill>
              </a:rPr>
              <a:t>How we handle it</a:t>
            </a:r>
            <a:endParaRPr lang="en-US" sz="1200" dirty="0"/>
          </a:p>
          <a:p>
            <a:pPr indent="0" marL="0">
              <a:buNone/>
            </a:pPr>
            <a:r>
              <a:rPr lang="en-US" sz="1400" dirty="0">
                <a:solidFill>
                  <a:schemeClr val="tx1"/>
                </a:solidFill>
              </a:rPr>
              <a:t>Schema validation, language mapping, per-language topics.</a:t>
            </a:r>
            <a:endParaRPr lang="en-US" sz="1200" dirty="0"/>
          </a:p>
        </p:txBody>
      </p:sp>
      <p:sp>
        <p:nvSpPr>
          <p:cNvPr id="21" name="rule Variety"/>
          <p:cNvSpPr/>
          <p:nvPr/>
        </p:nvSpPr>
        <p:spPr>
          <a:xfrm>
            <a:off x="5230368" y="3794760"/>
            <a:ext cx="1737360" cy="0"/>
          </a:xfrm>
          <a:prstGeom prst="line">
            <a:avLst/>
          </a:prstGeom>
          <a:noFill/>
          <a:ln w="12700">
            <a:solidFill>
              <a:srgbClr val="D9D4C7"/>
            </a:solidFill>
            <a:prstDash val="solid"/>
          </a:ln>
        </p:spPr>
      </p:sp>
      <p:sp>
        <p:nvSpPr>
          <p:cNvPr id="22" name="card Veracity"/>
          <p:cNvSpPr/>
          <p:nvPr/>
        </p:nvSpPr>
        <p:spPr>
          <a:xfrm>
            <a:off x="7296912" y="1463040"/>
            <a:ext cx="2103120" cy="4663440"/>
          </a:xfrm>
          <a:prstGeom prst="roundRect">
            <a:avLst>
              <a:gd name="adj" fmla="val 3478"/>
            </a:avLst>
          </a:prstGeom>
          <a:solidFill>
            <a:schemeClr val="bg2"/>
          </a:solidFill>
          <a:ln w="12700">
            <a:solidFill>
              <a:schemeClr val="bg2"/>
            </a:solidFill>
            <a:prstDash val="solid"/>
          </a:ln>
        </p:spPr>
      </p:sp>
      <p:sp>
        <p:nvSpPr>
          <p:cNvPr id="23" name="card mark Veracity"/>
          <p:cNvSpPr/>
          <p:nvPr/>
        </p:nvSpPr>
        <p:spPr>
          <a:xfrm>
            <a:off x="7479792" y="1664208"/>
            <a:ext cx="457200" cy="64008"/>
          </a:xfrm>
          <a:prstGeom prst="rect">
            <a:avLst/>
          </a:prstGeom>
          <a:solidFill>
            <a:schemeClr val="accent3"/>
          </a:solidFill>
          <a:ln w="12700">
            <a:solidFill>
              <a:schemeClr val="accent3"/>
            </a:solidFill>
            <a:prstDash val="solid"/>
          </a:ln>
        </p:spPr>
      </p:sp>
      <p:sp>
        <p:nvSpPr>
          <p:cNvPr id="24" name="card head Veracity"/>
          <p:cNvSpPr txBox="1"/>
          <p:nvPr/>
        </p:nvSpPr>
        <p:spPr>
          <a:xfrm>
            <a:off x="7479792" y="1810512"/>
            <a:ext cx="17373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Veracity</a:t>
            </a:r>
            <a:endParaRPr lang="en-US" sz="1700" dirty="0"/>
          </a:p>
        </p:txBody>
      </p:sp>
      <p:sp>
        <p:nvSpPr>
          <p:cNvPr id="25" name="card body Veracity"/>
          <p:cNvSpPr txBox="1"/>
          <p:nvPr/>
        </p:nvSpPr>
        <p:spPr>
          <a:xfrm>
            <a:off x="7479792" y="2267712"/>
            <a:ext cx="1737360" cy="3749040"/>
          </a:xfrm>
          <a:prstGeom prst="rect">
            <a:avLst/>
          </a:prstGeom>
          <a:noFill/>
          <a:ln/>
        </p:spPr>
        <p:txBody>
          <a:bodyPr wrap="square" lIns="0" tIns="0" rIns="0" bIns="0" rtlCol="0" anchor="t"/>
          <a:lstStyle/>
          <a:p>
            <a:pPr indent="0" marL="0">
              <a:buNone/>
            </a:pPr>
            <a:r>
              <a:rPr lang="en-US" sz="1500" dirty="0">
                <a:solidFill>
                  <a:schemeClr val="tx1"/>
                </a:solidFill>
              </a:rPr>
              <a:t>Duplicates, empty texts, missing labels and engagement.</a:t>
            </a:r>
            <a:endParaRPr lang="en-US" sz="1500" dirty="0"/>
          </a:p>
        </p:txBody>
      </p:sp>
      <p:sp>
        <p:nvSpPr>
          <p:cNvPr id="26" name="how Veracity"/>
          <p:cNvSpPr txBox="1"/>
          <p:nvPr/>
        </p:nvSpPr>
        <p:spPr>
          <a:xfrm>
            <a:off x="7479792" y="3977640"/>
            <a:ext cx="1737360" cy="2011680"/>
          </a:xfrm>
          <a:prstGeom prst="rect">
            <a:avLst/>
          </a:prstGeom>
          <a:noFill/>
          <a:ln/>
        </p:spPr>
        <p:txBody>
          <a:bodyPr wrap="square" lIns="0" tIns="0" rIns="0" bIns="0" rtlCol="0" anchor="t"/>
          <a:lstStyle/>
          <a:p>
            <a:pPr indent="0" marL="0">
              <a:buNone/>
            </a:pPr>
            <a:r>
              <a:rPr lang="en-US" sz="1200" b="1" dirty="0">
                <a:solidFill>
                  <a:schemeClr val="accent3"/>
                </a:solidFill>
              </a:rPr>
              <a:t>How we handle it</a:t>
            </a:r>
            <a:endParaRPr lang="en-US" sz="1200" dirty="0"/>
          </a:p>
          <a:p>
            <a:pPr indent="0" marL="0">
              <a:buNone/>
            </a:pPr>
            <a:r>
              <a:rPr lang="en-US" sz="1400" dirty="0">
                <a:solidFill>
                  <a:schemeClr val="tx1"/>
                </a:solidFill>
              </a:rPr>
              <a:t>1,392 duplicate ids dropped; synthetic values flagged.</a:t>
            </a:r>
            <a:endParaRPr lang="en-US" sz="1200" dirty="0"/>
          </a:p>
        </p:txBody>
      </p:sp>
      <p:sp>
        <p:nvSpPr>
          <p:cNvPr id="27" name="rule Veracity"/>
          <p:cNvSpPr/>
          <p:nvPr/>
        </p:nvSpPr>
        <p:spPr>
          <a:xfrm>
            <a:off x="7479792" y="3794760"/>
            <a:ext cx="1737360" cy="0"/>
          </a:xfrm>
          <a:prstGeom prst="line">
            <a:avLst/>
          </a:prstGeom>
          <a:noFill/>
          <a:ln w="12700">
            <a:solidFill>
              <a:srgbClr val="D9D4C7"/>
            </a:solidFill>
            <a:prstDash val="solid"/>
          </a:ln>
        </p:spPr>
      </p:sp>
      <p:sp>
        <p:nvSpPr>
          <p:cNvPr id="28" name="card Value"/>
          <p:cNvSpPr/>
          <p:nvPr/>
        </p:nvSpPr>
        <p:spPr>
          <a:xfrm>
            <a:off x="9546336" y="1463040"/>
            <a:ext cx="2103120" cy="4663440"/>
          </a:xfrm>
          <a:prstGeom prst="roundRect">
            <a:avLst>
              <a:gd name="adj" fmla="val 3478"/>
            </a:avLst>
          </a:prstGeom>
          <a:solidFill>
            <a:schemeClr val="bg2"/>
          </a:solidFill>
          <a:ln w="12700">
            <a:solidFill>
              <a:schemeClr val="bg2"/>
            </a:solidFill>
            <a:prstDash val="solid"/>
          </a:ln>
        </p:spPr>
      </p:sp>
      <p:sp>
        <p:nvSpPr>
          <p:cNvPr id="29" name="card mark Value"/>
          <p:cNvSpPr/>
          <p:nvPr/>
        </p:nvSpPr>
        <p:spPr>
          <a:xfrm>
            <a:off x="9729216" y="1664208"/>
            <a:ext cx="457200" cy="64008"/>
          </a:xfrm>
          <a:prstGeom prst="rect">
            <a:avLst/>
          </a:prstGeom>
          <a:solidFill>
            <a:schemeClr val="accent2"/>
          </a:solidFill>
          <a:ln w="12700">
            <a:solidFill>
              <a:schemeClr val="accent2"/>
            </a:solidFill>
            <a:prstDash val="solid"/>
          </a:ln>
        </p:spPr>
      </p:sp>
      <p:sp>
        <p:nvSpPr>
          <p:cNvPr id="30" name="card head Value"/>
          <p:cNvSpPr txBox="1"/>
          <p:nvPr/>
        </p:nvSpPr>
        <p:spPr>
          <a:xfrm>
            <a:off x="9729216" y="1810512"/>
            <a:ext cx="17373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Value</a:t>
            </a:r>
            <a:endParaRPr lang="en-US" sz="1700" dirty="0"/>
          </a:p>
        </p:txBody>
      </p:sp>
      <p:sp>
        <p:nvSpPr>
          <p:cNvPr id="31" name="card body Value"/>
          <p:cNvSpPr txBox="1"/>
          <p:nvPr/>
        </p:nvSpPr>
        <p:spPr>
          <a:xfrm>
            <a:off x="9729216" y="2267712"/>
            <a:ext cx="1737360" cy="3749040"/>
          </a:xfrm>
          <a:prstGeom prst="rect">
            <a:avLst/>
          </a:prstGeom>
          <a:noFill/>
          <a:ln/>
        </p:spPr>
        <p:txBody>
          <a:bodyPr wrap="square" lIns="0" tIns="0" rIns="0" bIns="0" rtlCol="0" anchor="t"/>
          <a:lstStyle/>
          <a:p>
            <a:pPr indent="0" marL="0">
              <a:buNone/>
            </a:pPr>
            <a:r>
              <a:rPr lang="en-US" sz="1500" dirty="0">
                <a:solidFill>
                  <a:schemeClr val="tx1"/>
                </a:solidFill>
              </a:rPr>
              <a:t>Trends, anomalies and sentiment shifts around real events.</a:t>
            </a:r>
            <a:endParaRPr lang="en-US" sz="1500" dirty="0"/>
          </a:p>
        </p:txBody>
      </p:sp>
      <p:sp>
        <p:nvSpPr>
          <p:cNvPr id="32" name="how Value"/>
          <p:cNvSpPr txBox="1"/>
          <p:nvPr/>
        </p:nvSpPr>
        <p:spPr>
          <a:xfrm>
            <a:off x="9729216" y="3977640"/>
            <a:ext cx="1737360" cy="2011680"/>
          </a:xfrm>
          <a:prstGeom prst="rect">
            <a:avLst/>
          </a:prstGeom>
          <a:noFill/>
          <a:ln/>
        </p:spPr>
        <p:txBody>
          <a:bodyPr wrap="square" lIns="0" tIns="0" rIns="0" bIns="0" rtlCol="0" anchor="t"/>
          <a:lstStyle/>
          <a:p>
            <a:pPr indent="0" marL="0">
              <a:buNone/>
            </a:pPr>
            <a:r>
              <a:rPr lang="en-US" sz="1200" b="1" dirty="0">
                <a:solidFill>
                  <a:schemeClr val="accent2"/>
                </a:solidFill>
              </a:rPr>
              <a:t>How we handle it</a:t>
            </a:r>
            <a:endParaRPr lang="en-US" sz="1200" dirty="0"/>
          </a:p>
          <a:p>
            <a:pPr indent="0" marL="0">
              <a:buNone/>
            </a:pPr>
            <a:r>
              <a:rPr lang="en-US" sz="1400" dirty="0">
                <a:solidFill>
                  <a:schemeClr val="tx1"/>
                </a:solidFill>
              </a:rPr>
              <a:t>Dashboard, trend score, three anomaly methods.</a:t>
            </a:r>
            <a:endParaRPr lang="en-US" sz="1200" dirty="0"/>
          </a:p>
        </p:txBody>
      </p:sp>
      <p:sp>
        <p:nvSpPr>
          <p:cNvPr id="33" name="rule Value"/>
          <p:cNvSpPr/>
          <p:nvPr/>
        </p:nvSpPr>
        <p:spPr>
          <a:xfrm>
            <a:off x="9729216" y="3794760"/>
            <a:ext cx="1737360" cy="0"/>
          </a:xfrm>
          <a:prstGeom prst="line">
            <a:avLst/>
          </a:prstGeom>
          <a:noFill/>
          <a:ln w="12700">
            <a:solidFill>
              <a:srgbClr val="D9D4C7"/>
            </a:solidFill>
            <a:prstDash val="solid"/>
          </a:ln>
        </p:spPr>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CAP theorem and the Hadoop ecosystem</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BIG DATA CHARACTERISTICS</a:t>
            </a:r>
            <a:endParaRPr lang="en-US" sz="1100" dirty="0"/>
          </a:p>
        </p:txBody>
      </p:sp>
      <p:sp>
        <p:nvSpPr>
          <p:cNvPr id="4" name="card CAP: MongoDB is CP"/>
          <p:cNvSpPr/>
          <p:nvPr/>
        </p:nvSpPr>
        <p:spPr>
          <a:xfrm>
            <a:off x="548640" y="1417320"/>
            <a:ext cx="4572000" cy="2331720"/>
          </a:xfrm>
          <a:prstGeom prst="roundRect">
            <a:avLst>
              <a:gd name="adj" fmla="val 3137"/>
            </a:avLst>
          </a:prstGeom>
          <a:solidFill>
            <a:schemeClr val="bg2"/>
          </a:solidFill>
          <a:ln w="12700">
            <a:solidFill>
              <a:schemeClr val="bg2"/>
            </a:solidFill>
            <a:prstDash val="solid"/>
          </a:ln>
        </p:spPr>
      </p:sp>
      <p:sp>
        <p:nvSpPr>
          <p:cNvPr id="5" name="card mark CAP: MongoDB is CP"/>
          <p:cNvSpPr/>
          <p:nvPr/>
        </p:nvSpPr>
        <p:spPr>
          <a:xfrm>
            <a:off x="731520" y="1618488"/>
            <a:ext cx="457200" cy="64008"/>
          </a:xfrm>
          <a:prstGeom prst="rect">
            <a:avLst/>
          </a:prstGeom>
          <a:solidFill>
            <a:schemeClr val="accent2"/>
          </a:solidFill>
          <a:ln w="12700">
            <a:solidFill>
              <a:schemeClr val="accent2"/>
            </a:solidFill>
            <a:prstDash val="solid"/>
          </a:ln>
        </p:spPr>
      </p:sp>
      <p:sp>
        <p:nvSpPr>
          <p:cNvPr id="6" name="card head CAP: MongoDB is CP"/>
          <p:cNvSpPr txBox="1"/>
          <p:nvPr/>
        </p:nvSpPr>
        <p:spPr>
          <a:xfrm>
            <a:off x="731520" y="1764792"/>
            <a:ext cx="420624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CAP: MongoDB is CP</a:t>
            </a:r>
            <a:endParaRPr lang="en-US" sz="1700" dirty="0"/>
          </a:p>
        </p:txBody>
      </p:sp>
      <p:sp>
        <p:nvSpPr>
          <p:cNvPr id="7" name="card body CAP: MongoDB is CP"/>
          <p:cNvSpPr txBox="1"/>
          <p:nvPr/>
        </p:nvSpPr>
        <p:spPr>
          <a:xfrm>
            <a:off x="731520" y="2221992"/>
            <a:ext cx="4206240" cy="1417320"/>
          </a:xfrm>
          <a:prstGeom prst="rect">
            <a:avLst/>
          </a:prstGeom>
          <a:noFill/>
          <a:ln/>
        </p:spPr>
        <p:txBody>
          <a:bodyPr wrap="square" lIns="0" tIns="0" rIns="0" bIns="0" rtlCol="0" anchor="t"/>
          <a:lstStyle/>
          <a:p>
            <a:pPr indent="0" marL="0">
              <a:buNone/>
            </a:pPr>
            <a:r>
              <a:rPr lang="en-US" sz="1300" dirty="0">
                <a:solidFill>
                  <a:schemeClr val="tx1"/>
                </a:solidFill>
              </a:rPr>
              <a:t>With majority write concern and primary reads, a partitioned minority stops accepting writes rather than serve stale data. Consistency is chosen over availability during a partition.</a:t>
            </a:r>
            <a:endParaRPr lang="en-US" sz="1300" dirty="0"/>
          </a:p>
        </p:txBody>
      </p:sp>
      <p:sp>
        <p:nvSpPr>
          <p:cNvPr id="8" name="card Why it matters"/>
          <p:cNvSpPr/>
          <p:nvPr/>
        </p:nvSpPr>
        <p:spPr>
          <a:xfrm>
            <a:off x="548640" y="3886200"/>
            <a:ext cx="4572000" cy="2240280"/>
          </a:xfrm>
          <a:prstGeom prst="roundRect">
            <a:avLst>
              <a:gd name="adj" fmla="val 3265"/>
            </a:avLst>
          </a:prstGeom>
          <a:solidFill>
            <a:schemeClr val="bg2"/>
          </a:solidFill>
          <a:ln w="12700">
            <a:solidFill>
              <a:schemeClr val="bg2"/>
            </a:solidFill>
            <a:prstDash val="solid"/>
          </a:ln>
        </p:spPr>
      </p:sp>
      <p:sp>
        <p:nvSpPr>
          <p:cNvPr id="9" name="card mark Why it matters"/>
          <p:cNvSpPr/>
          <p:nvPr/>
        </p:nvSpPr>
        <p:spPr>
          <a:xfrm>
            <a:off x="731520" y="4087368"/>
            <a:ext cx="457200" cy="64008"/>
          </a:xfrm>
          <a:prstGeom prst="rect">
            <a:avLst/>
          </a:prstGeom>
          <a:solidFill>
            <a:schemeClr val="accent3"/>
          </a:solidFill>
          <a:ln w="12700">
            <a:solidFill>
              <a:schemeClr val="accent3"/>
            </a:solidFill>
            <a:prstDash val="solid"/>
          </a:ln>
        </p:spPr>
      </p:sp>
      <p:sp>
        <p:nvSpPr>
          <p:cNvPr id="10" name="card head Why it matters"/>
          <p:cNvSpPr txBox="1"/>
          <p:nvPr/>
        </p:nvSpPr>
        <p:spPr>
          <a:xfrm>
            <a:off x="731520" y="4233672"/>
            <a:ext cx="420624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Why it matters</a:t>
            </a:r>
            <a:endParaRPr lang="en-US" sz="1700" dirty="0"/>
          </a:p>
        </p:txBody>
      </p:sp>
      <p:sp>
        <p:nvSpPr>
          <p:cNvPr id="11" name="card body Why it matters"/>
          <p:cNvSpPr txBox="1"/>
          <p:nvPr/>
        </p:nvSpPr>
        <p:spPr>
          <a:xfrm>
            <a:off x="731520" y="4690872"/>
            <a:ext cx="4206240" cy="1325880"/>
          </a:xfrm>
          <a:prstGeom prst="rect">
            <a:avLst/>
          </a:prstGeom>
          <a:noFill/>
          <a:ln/>
        </p:spPr>
        <p:txBody>
          <a:bodyPr wrap="square" lIns="0" tIns="0" rIns="0" bIns="0" rtlCol="0" anchor="t"/>
          <a:lstStyle/>
          <a:p>
            <a:pPr indent="0" marL="0">
              <a:buNone/>
            </a:pPr>
            <a:r>
              <a:rPr lang="en-US" sz="1300" dirty="0">
                <a:solidFill>
                  <a:schemeClr val="tx1"/>
                </a:solidFill>
              </a:rPr>
              <a:t>Every classic Hadoop role has a counterpart here, so the project covers the ecosystem with tools that run on one machine and scale out to a cluster unchanged.</a:t>
            </a:r>
            <a:endParaRPr lang="en-US" sz="1300" dirty="0"/>
          </a:p>
        </p:txBody>
      </p:sp>
      <p:graphicFrame>
        <p:nvGraphicFramePr>
          <p:cNvPr id="9" name="hadoop table"/>
          <p:cNvGraphicFramePr>
            <a:graphicFrameLocks noGrp="1"/>
          </p:cNvGraphicFramePr>
          <p:nvPr>
            <p:extLst>
              <p:ext uri="{D42A27DB-BD31-4B8C-83A1-F6EECF244321}">
                <p14:modId xmlns:p14="http://schemas.microsoft.com/office/powerpoint/2010/main" val="1579011935"/>
              </p:ext>
            </p:extLst>
          </p:nvPr>
        </p:nvGraphicFramePr>
        <p:xfrm>
          <a:off x="5349240" y="1417320"/>
          <a:ext cx="6263640" cy="914400"/>
        </p:xfrm>
        <a:graphic>
          <a:graphicData uri="http://schemas.openxmlformats.org/drawingml/2006/table">
            <a:tbl>
              <a:tblPr/>
              <a:tblGrid>
                <a:gridCol w="1554480"/>
                <a:gridCol w="1691640"/>
                <a:gridCol w="3017520"/>
              </a:tblGrid>
              <a:tr h="384048">
                <a:tc>
                  <a:txBody>
                    <a:bodyPr/>
                    <a:lstStyle/>
                    <a:p>
                      <a:pPr indent="0" marL="0">
                        <a:buNone/>
                      </a:pPr>
                      <a:r>
                        <a:rPr lang="en-US" sz="1200" b="1" dirty="0">
                          <a:solidFill>
                            <a:srgbClr val="FFFFFF"/>
                          </a:solidFill>
                        </a:rPr>
                        <a:t>Hadoop component</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rPr>
                        <a:t>Role</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rPr>
                        <a:t>In this project</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0F4C5C"/>
                    </a:solidFill>
                  </a:tcPr>
                </a:tc>
              </a:tr>
              <a:tr h="384048">
                <a:tc>
                  <a:txBody>
                    <a:bodyPr/>
                    <a:lstStyle/>
                    <a:p>
                      <a:pPr indent="0" marL="0">
                        <a:buNone/>
                      </a:pPr>
                      <a:r>
                        <a:rPr lang="en-US" sz="1200" dirty="0">
                          <a:solidFill>
                            <a:srgbClr val="1F2328"/>
                          </a:solidFill>
                        </a:rPr>
                        <a:t>HDFS</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distributed file storage</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Parquet data lake, partitioned folders</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328"/>
                          </a:solidFill>
                        </a:rPr>
                        <a:t>MapReduce</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map, shuffle, reduce</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Spark stages with shuffle exchanges</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328"/>
                          </a:solidFill>
                        </a:rPr>
                        <a:t>Hive</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SQL over files</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Spark SQL on silver and gold tables</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328"/>
                          </a:solidFill>
                        </a:rPr>
                        <a:t>HBase / NoSQL</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key-value at scale</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MongoDB documents, 12 indexes</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328"/>
                          </a:solidFill>
                        </a:rPr>
                        <a:t>Region servers</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horizontal scaling</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MongoDB sharding, hashed and ranged keys</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328"/>
                          </a:solidFill>
                        </a:rPr>
                        <a:t>Kylin / cubes</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pre-aggregation</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gold tables and MongoDB rollups</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328"/>
                          </a:solidFill>
                        </a:rPr>
                        <a:t>Mahout</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batch ML</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scikit-learn sentiment and NMF topics</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328"/>
                          </a:solidFill>
                        </a:rPr>
                        <a:t>YARN</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resource manager</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Spark local[*] scheduler</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328"/>
                          </a:solidFill>
                        </a:rPr>
                        <a:t>Sqoop / Flume</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ingestion</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rPr>
                        <a:t>streaming CSV readers, upload API</a:t>
                      </a:r>
                      <a:endParaRPr lang="en-US" sz="12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MongoDB design: documents, collections, indexes</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STORAGE</a:t>
            </a:r>
            <a:endParaRPr lang="en-US" sz="1100" dirty="0"/>
          </a:p>
        </p:txBody>
      </p:sp>
      <p:sp>
        <p:nvSpPr>
          <p:cNvPr id="4" name="frame site_mongodb_05_a-real-document-from-the-posts-collectio.png"/>
          <p:cNvSpPr/>
          <p:nvPr/>
        </p:nvSpPr>
        <p:spPr>
          <a:xfrm>
            <a:off x="676499" y="1335024"/>
            <a:ext cx="3310442" cy="4599432"/>
          </a:xfrm>
          <a:prstGeom prst="rect">
            <a:avLst/>
          </a:prstGeom>
          <a:solidFill>
            <a:schemeClr val="bg1"/>
          </a:solidFill>
          <a:ln w="9525">
            <a:solidFill>
              <a:srgbClr val="D9D4C7"/>
            </a:solidFill>
            <a:prstDash val="solid"/>
          </a:ln>
        </p:spPr>
      </p:sp>
      <p:pic>
        <p:nvPicPr>
          <p:cNvPr id="5" name="img site_mongodb_05_a-real-document-from-the-posts-collectio.png" descr="site mongodb 05 a real document from the posts collectio">    </p:cNvPr>
          <p:cNvPicPr>
            <a:picLocks noChangeAspect="1"/>
          </p:cNvPicPr>
          <p:nvPr/>
        </p:nvPicPr>
        <p:blipFill>
          <a:blip r:embed="rId1"/>
          <a:stretch>
            <a:fillRect/>
          </a:stretch>
        </p:blipFill>
        <p:spPr>
          <a:xfrm>
            <a:off x="713075" y="1371600"/>
            <a:ext cx="3237290" cy="4526280"/>
          </a:xfrm>
          <a:prstGeom prst="rect">
            <a:avLst/>
          </a:prstGeom>
        </p:spPr>
      </p:pic>
      <p:sp>
        <p:nvSpPr>
          <p:cNvPr id="6" name="caption"/>
          <p:cNvSpPr txBox="1"/>
          <p:nvPr/>
        </p:nvSpPr>
        <p:spPr>
          <a:xfrm>
            <a:off x="548640" y="5971032"/>
            <a:ext cx="3566160" cy="274320"/>
          </a:xfrm>
          <a:prstGeom prst="rect">
            <a:avLst/>
          </a:prstGeom>
          <a:noFill/>
          <a:ln/>
        </p:spPr>
        <p:txBody>
          <a:bodyPr wrap="square" lIns="0" tIns="0" rIns="0" bIns="0" rtlCol="0" anchor="ctr"/>
          <a:lstStyle/>
          <a:p>
            <a:pPr algn="ctr" indent="0" marL="0">
              <a:buNone/>
            </a:pPr>
            <a:r>
              <a:rPr lang="en-US" sz="1100" i="1" dirty="0">
                <a:solidFill>
                  <a:schemeClr val="accent5"/>
                </a:solidFill>
              </a:rPr>
              <a:t>A real document</a:t>
            </a:r>
            <a:endParaRPr lang="en-US" sz="1100" dirty="0"/>
          </a:p>
        </p:txBody>
      </p:sp>
      <p:sp>
        <p:nvSpPr>
          <p:cNvPr id="7" name="frame site_mongodb_07_the-12-indexes-on-posts-and-why-each-exi.png"/>
          <p:cNvSpPr/>
          <p:nvPr/>
        </p:nvSpPr>
        <p:spPr>
          <a:xfrm>
            <a:off x="5230368" y="1335024"/>
            <a:ext cx="5495544" cy="4005072"/>
          </a:xfrm>
          <a:prstGeom prst="rect">
            <a:avLst/>
          </a:prstGeom>
          <a:solidFill>
            <a:schemeClr val="bg1"/>
          </a:solidFill>
          <a:ln w="9525">
            <a:solidFill>
              <a:srgbClr val="D9D4C7"/>
            </a:solidFill>
            <a:prstDash val="solid"/>
          </a:ln>
        </p:spPr>
      </p:sp>
      <p:pic>
        <p:nvPicPr>
          <p:cNvPr id="8" name="img site_mongodb_07_the-12-indexes-on-posts-and-why-each-exi.png" descr="site mongodb 07 the 12 indexes on posts and why each exi">    </p:cNvPr>
          <p:cNvPicPr>
            <a:picLocks noChangeAspect="1"/>
          </p:cNvPicPr>
          <p:nvPr/>
        </p:nvPicPr>
        <p:blipFill>
          <a:blip r:embed="rId2"/>
          <a:stretch>
            <a:fillRect/>
          </a:stretch>
        </p:blipFill>
        <p:spPr>
          <a:xfrm>
            <a:off x="5266944" y="1371600"/>
            <a:ext cx="5422392" cy="3931920"/>
          </a:xfrm>
          <a:prstGeom prst="rect">
            <a:avLst/>
          </a:prstGeom>
        </p:spPr>
      </p:pic>
      <p:sp>
        <p:nvSpPr>
          <p:cNvPr id="9" name="caption"/>
          <p:cNvSpPr txBox="1"/>
          <p:nvPr/>
        </p:nvSpPr>
        <p:spPr>
          <a:xfrm>
            <a:off x="4343400" y="5376672"/>
            <a:ext cx="7269480" cy="274320"/>
          </a:xfrm>
          <a:prstGeom prst="rect">
            <a:avLst/>
          </a:prstGeom>
          <a:noFill/>
          <a:ln/>
        </p:spPr>
        <p:txBody>
          <a:bodyPr wrap="square" lIns="0" tIns="0" rIns="0" bIns="0" rtlCol="0" anchor="ctr"/>
          <a:lstStyle/>
          <a:p>
            <a:pPr algn="ctr" indent="0" marL="0">
              <a:buNone/>
            </a:pPr>
            <a:r>
              <a:rPr lang="en-US" sz="1100" i="1" dirty="0">
                <a:solidFill>
                  <a:schemeClr val="accent5"/>
                </a:solidFill>
              </a:rPr>
              <a:t>The 12 indexes on posts and why each exists</a:t>
            </a:r>
            <a:endParaRPr lang="en-US" sz="1100" dirty="0"/>
          </a:p>
        </p:txBody>
      </p:sp>
      <p:sp>
        <p:nvSpPr>
          <p:cNvPr id="10" name="design note"/>
          <p:cNvSpPr txBox="1"/>
          <p:nvPr/>
        </p:nvSpPr>
        <p:spPr>
          <a:xfrm>
            <a:off x="4343400" y="5715000"/>
            <a:ext cx="7269480" cy="502920"/>
          </a:xfrm>
          <a:prstGeom prst="rect">
            <a:avLst/>
          </a:prstGeom>
          <a:noFill/>
          <a:ln/>
        </p:spPr>
        <p:txBody>
          <a:bodyPr wrap="square" lIns="0" tIns="0" rIns="0" bIns="0" rtlCol="0" anchor="ctr"/>
          <a:lstStyle/>
          <a:p>
            <a:pPr indent="0" marL="0">
              <a:buNone/>
            </a:pPr>
            <a:r>
              <a:rPr lang="en-US" sz="1300" dirty="0">
                <a:solidFill>
                  <a:schemeClr val="tx1"/>
                </a:solidFill>
              </a:rPr>
              <a:t>One schema-validated posts collection plus rollup collections (daily_cube, hourly, hashtag, keyword, account). Each index matches a dashboard query; compound indexes put the equality field first and the date range last.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Ingestion scales linearly</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RESULTS · INGESTION</a:t>
            </a:r>
            <a:endParaRPr lang="en-US" sz="1100" dirty="0"/>
          </a:p>
        </p:txBody>
      </p:sp>
      <p:graphicFrame>
        <p:nvGraphicFramePr>
          <p:cNvPr id="4" name="Chart 0" descr=""/>
          <p:cNvGraphicFramePr/>
          <p:nvPr/>
        </p:nvGraphicFramePr>
        <p:xfrm>
          <a:off x="548640" y="1371600"/>
          <a:ext cx="5943600" cy="4023360"/>
        </p:xfrm>
        <a:graphic xmlns:a="http://schemas.openxmlformats.org/drawingml/2006/main">
          <a:graphicData uri="http://schemas.openxmlformats.org/drawingml/2006/chart">
            <c:chart xmlns:c="http://schemas.openxmlformats.org/drawingml/2006/chart" r:id="rId1"/>
          </a:graphicData>
        </a:graphic>
      </p:graphicFrame>
      <p:sp>
        <p:nvSpPr>
          <p:cNvPr id="5" name="bullets"/>
          <p:cNvSpPr txBox="1"/>
          <p:nvPr/>
        </p:nvSpPr>
        <p:spPr>
          <a:xfrm>
            <a:off x="6720840" y="1463040"/>
            <a:ext cx="4892040" cy="402336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chemeClr val="tx2"/>
                </a:solidFill>
              </a:rPr>
              <a:t>Throughput: </a:t>
            </a:r>
            <a:pPr indent="0" marL="0">
              <a:buNone/>
            </a:pPr>
            <a:r>
              <a:rPr lang="en-US" sz="1400" dirty="0">
                <a:solidFill>
                  <a:schemeClr val="tx1"/>
                </a:solidFill>
              </a:rPr>
              <a:t>9,916 to 11,815 records/s at every size.</a:t>
            </a:r>
            <a:endParaRPr lang="en-US" sz="1400" dirty="0"/>
          </a:p>
          <a:p>
            <a:pPr marL="228600" indent="-228600">
              <a:spcAft>
                <a:spcPts val="800"/>
              </a:spcAft>
              <a:buSzPct val="100000"/>
              <a:buChar char="•"/>
            </a:pPr>
            <a:r>
              <a:rPr lang="en-US" sz="1400" b="1" dirty="0">
                <a:solidFill>
                  <a:schemeClr val="tx2"/>
                </a:solidFill>
              </a:rPr>
              <a:t>Batch size: </a:t>
            </a:r>
            <a:pPr indent="0" marL="0">
              <a:buNone/>
            </a:pPr>
            <a:r>
              <a:rPr lang="en-US" sz="1400" dirty="0">
                <a:solidFill>
                  <a:schemeClr val="tx1"/>
                </a:solidFill>
              </a:rPr>
              <a:t>100 docs gave 7,909 rec/s; 500 to 20,000 gave about 11,500.</a:t>
            </a:r>
            <a:endParaRPr lang="en-US" sz="1400" dirty="0"/>
          </a:p>
          <a:p>
            <a:pPr marL="228600" indent="-228600">
              <a:spcAft>
                <a:spcPts val="800"/>
              </a:spcAft>
              <a:buSzPct val="100000"/>
              <a:buChar char="•"/>
            </a:pPr>
            <a:r>
              <a:rPr lang="en-US" sz="1400" b="1" dirty="0">
                <a:solidFill>
                  <a:schemeClr val="tx2"/>
                </a:solidFill>
              </a:rPr>
              <a:t>Parallel cleaning: </a:t>
            </a:r>
            <a:pPr indent="0" marL="0">
              <a:buNone/>
            </a:pPr>
            <a:r>
              <a:rPr lang="en-US" sz="1400" dirty="0">
                <a:solidFill>
                  <a:schemeClr val="tx1"/>
                </a:solidFill>
              </a:rPr>
              <a:t>2 workers 1.9× faster than 1 on 4 vCPUs.</a:t>
            </a:r>
            <a:endParaRPr lang="en-US" sz="1400" dirty="0"/>
          </a:p>
          <a:p>
            <a:pPr marL="228600" indent="-228600">
              <a:spcAft>
                <a:spcPts val="800"/>
              </a:spcAft>
              <a:buSzPct val="100000"/>
              <a:buChar char="•"/>
            </a:pPr>
            <a:r>
              <a:rPr lang="en-US" sz="1400" b="1" dirty="0">
                <a:solidFill>
                  <a:schemeClr val="tx2"/>
                </a:solidFill>
              </a:rPr>
              <a:t>Index after load: </a:t>
            </a:r>
            <a:pPr indent="0" marL="0">
              <a:buNone/>
            </a:pPr>
            <a:r>
              <a:rPr lang="en-US" sz="1400" dirty="0">
                <a:solidFill>
                  <a:schemeClr val="tx1"/>
                </a:solidFill>
              </a:rPr>
              <a:t>16% less total time than loading with all indexes.</a:t>
            </a:r>
            <a:endParaRPr lang="en-US" sz="1400" dirty="0"/>
          </a:p>
          <a:p>
            <a:pPr marL="228600" indent="-228600">
              <a:spcAft>
                <a:spcPts val="800"/>
              </a:spcAft>
              <a:buSzPct val="100000"/>
              <a:buChar char="•"/>
            </a:pPr>
            <a:r>
              <a:rPr lang="en-US" sz="1400" b="1" dirty="0">
                <a:solidFill>
                  <a:schemeClr val="tx2"/>
                </a:solidFill>
              </a:rPr>
              <a:t>Cleaning: </a:t>
            </a:r>
            <a:pPr indent="0" marL="0">
              <a:buNone/>
            </a:pPr>
            <a:r>
              <a:rPr lang="en-US" sz="1400" dirty="0">
                <a:solidFill>
                  <a:schemeClr val="tx1"/>
                </a:solidFill>
              </a:rPr>
              <a:t>normalise text, extract hashtags, mentions and URLs, map languages, drop duplicates.</a:t>
            </a:r>
            <a:endParaRPr lang="en-US" sz="1400" dirty="0"/>
          </a:p>
        </p:txBody>
      </p:sp>
      <p:sp>
        <p:nvSpPr>
          <p:cNvPr id="6" name="takeaway"/>
          <p:cNvSpPr txBox="1"/>
          <p:nvPr/>
        </p:nvSpPr>
        <p:spPr>
          <a:xfrm>
            <a:off x="548640" y="5623560"/>
            <a:ext cx="11064240" cy="411480"/>
          </a:xfrm>
          <a:prstGeom prst="rect">
            <a:avLst/>
          </a:prstGeom>
          <a:noFill/>
          <a:ln/>
        </p:spPr>
        <p:txBody>
          <a:bodyPr wrap="square" lIns="0" tIns="0" rIns="0" bIns="0" rtlCol="0" anchor="ctr"/>
          <a:lstStyle/>
          <a:p>
            <a:pPr indent="0" marL="0">
              <a:buNone/>
            </a:pPr>
            <a:r>
              <a:rPr lang="en-US" sz="1500" b="1" dirty="0">
                <a:solidFill>
                  <a:schemeClr val="accent2"/>
                </a:solidFill>
              </a:rPr>
              <a:t>Full run: 297 s to load 2.94M posts + 311 s to build indexes = 608 s.</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Indexes versus collection scans on 2.94M posts</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RESULTS · QUERIES</a:t>
            </a:r>
            <a:endParaRPr lang="en-US" sz="1100" dirty="0"/>
          </a:p>
        </p:txBody>
      </p:sp>
      <p:graphicFrame>
        <p:nvGraphicFramePr>
          <p:cNvPr id="4" name="Chart 0" descr=""/>
          <p:cNvGraphicFramePr/>
          <p:nvPr/>
        </p:nvGraphicFramePr>
        <p:xfrm>
          <a:off x="548640" y="137160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5" name="stat card faster with the matching index"/>
          <p:cNvSpPr/>
          <p:nvPr/>
        </p:nvSpPr>
        <p:spPr>
          <a:xfrm>
            <a:off x="8366760" y="1463040"/>
            <a:ext cx="3246120" cy="1463040"/>
          </a:xfrm>
          <a:prstGeom prst="roundRect">
            <a:avLst>
              <a:gd name="adj" fmla="val 5000"/>
            </a:avLst>
          </a:prstGeom>
          <a:solidFill>
            <a:schemeClr val="bg2"/>
          </a:solidFill>
          <a:ln w="12700">
            <a:solidFill>
              <a:schemeClr val="bg2"/>
            </a:solidFill>
            <a:prstDash val="solid"/>
          </a:ln>
        </p:spPr>
      </p:sp>
      <p:sp>
        <p:nvSpPr>
          <p:cNvPr id="6" name="stat faster with the matching index"/>
          <p:cNvSpPr txBox="1"/>
          <p:nvPr/>
        </p:nvSpPr>
        <p:spPr>
          <a:xfrm>
            <a:off x="8549640" y="1600200"/>
            <a:ext cx="2880360" cy="760781"/>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25×–3000×</a:t>
            </a:r>
            <a:endParaRPr lang="en-US" sz="3400" dirty="0"/>
          </a:p>
        </p:txBody>
      </p:sp>
      <p:sp>
        <p:nvSpPr>
          <p:cNvPr id="7" name="stat label faster with the matching index"/>
          <p:cNvSpPr txBox="1"/>
          <p:nvPr/>
        </p:nvSpPr>
        <p:spPr>
          <a:xfrm>
            <a:off x="8549640" y="2360981"/>
            <a:ext cx="2880360" cy="585216"/>
          </a:xfrm>
          <a:prstGeom prst="rect">
            <a:avLst/>
          </a:prstGeom>
          <a:noFill/>
          <a:ln/>
        </p:spPr>
        <p:txBody>
          <a:bodyPr wrap="square" lIns="0" tIns="0" rIns="0" bIns="0" rtlCol="0" anchor="t"/>
          <a:lstStyle/>
          <a:p>
            <a:pPr indent="0" marL="0">
              <a:buNone/>
            </a:pPr>
            <a:r>
              <a:rPr lang="en-US" sz="1300" dirty="0">
                <a:solidFill>
                  <a:schemeClr val="tx1"/>
                </a:solidFill>
              </a:rPr>
              <a:t>faster with the matching index</a:t>
            </a:r>
            <a:endParaRPr lang="en-US" sz="1300" dirty="0"/>
          </a:p>
        </p:txBody>
      </p:sp>
      <p:sp>
        <p:nvSpPr>
          <p:cNvPr id="8" name="stat card documents read by every scan"/>
          <p:cNvSpPr/>
          <p:nvPr/>
        </p:nvSpPr>
        <p:spPr>
          <a:xfrm>
            <a:off x="8366760" y="3108960"/>
            <a:ext cx="3246120" cy="1463040"/>
          </a:xfrm>
          <a:prstGeom prst="roundRect">
            <a:avLst>
              <a:gd name="adj" fmla="val 5000"/>
            </a:avLst>
          </a:prstGeom>
          <a:solidFill>
            <a:schemeClr val="bg2"/>
          </a:solidFill>
          <a:ln w="12700">
            <a:solidFill>
              <a:schemeClr val="bg2"/>
            </a:solidFill>
            <a:prstDash val="solid"/>
          </a:ln>
        </p:spPr>
      </p:sp>
      <p:sp>
        <p:nvSpPr>
          <p:cNvPr id="9" name="stat documents read by every scan"/>
          <p:cNvSpPr txBox="1"/>
          <p:nvPr/>
        </p:nvSpPr>
        <p:spPr>
          <a:xfrm>
            <a:off x="8549640" y="3246120"/>
            <a:ext cx="2880360" cy="760781"/>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2,944,814</a:t>
            </a:r>
            <a:endParaRPr lang="en-US" sz="3400" dirty="0"/>
          </a:p>
        </p:txBody>
      </p:sp>
      <p:sp>
        <p:nvSpPr>
          <p:cNvPr id="10" name="stat label documents read by every scan"/>
          <p:cNvSpPr txBox="1"/>
          <p:nvPr/>
        </p:nvSpPr>
        <p:spPr>
          <a:xfrm>
            <a:off x="8549640" y="4006901"/>
            <a:ext cx="2880360" cy="585216"/>
          </a:xfrm>
          <a:prstGeom prst="rect">
            <a:avLst/>
          </a:prstGeom>
          <a:noFill/>
          <a:ln/>
        </p:spPr>
        <p:txBody>
          <a:bodyPr wrap="square" lIns="0" tIns="0" rIns="0" bIns="0" rtlCol="0" anchor="t"/>
          <a:lstStyle/>
          <a:p>
            <a:pPr indent="0" marL="0">
              <a:buNone/>
            </a:pPr>
            <a:r>
              <a:rPr lang="en-US" sz="1300" dirty="0">
                <a:solidFill>
                  <a:schemeClr val="tx1"/>
                </a:solidFill>
              </a:rPr>
              <a:t>documents read by every scan</a:t>
            </a:r>
            <a:endParaRPr lang="en-US" sz="1300" dirty="0"/>
          </a:p>
        </p:txBody>
      </p:sp>
      <p:sp>
        <p:nvSpPr>
          <p:cNvPr id="11" name="index note"/>
          <p:cNvSpPr txBox="1"/>
          <p:nvPr/>
        </p:nvSpPr>
        <p:spPr>
          <a:xfrm>
            <a:off x="8366760" y="4754880"/>
            <a:ext cx="3246120" cy="1371600"/>
          </a:xfrm>
          <a:prstGeom prst="rect">
            <a:avLst/>
          </a:prstGeom>
          <a:noFill/>
          <a:ln/>
        </p:spPr>
        <p:txBody>
          <a:bodyPr wrap="square" lIns="0" tIns="0" rIns="0" bIns="0" rtlCol="0" anchor="ctr"/>
          <a:lstStyle/>
          <a:p>
            <a:pPr indent="0" marL="0">
              <a:buNone/>
            </a:pPr>
            <a:r>
              <a:rPr lang="en-US" sz="1300" dirty="0">
                <a:solidFill>
                  <a:schemeClr val="tx1"/>
                </a:solidFill>
              </a:rPr>
              <a:t>With an index, MongoDB reads only the matching documents (50 to 33,703), so time follows the result size, not the collection size.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Pre-aggregation makes the dashboard interactive</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RESULTS · AGGREGATION</a:t>
            </a:r>
            <a:endParaRPr lang="en-US" sz="1100" dirty="0"/>
          </a:p>
        </p:txBody>
      </p:sp>
      <p:graphicFrame>
        <p:nvGraphicFramePr>
          <p:cNvPr id="4" name="Chart 0" descr=""/>
          <p:cNvGraphicFramePr/>
          <p:nvPr/>
        </p:nvGraphicFramePr>
        <p:xfrm>
          <a:off x="548640" y="137160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5" name="stat card faster from the daily_cube rollup"/>
          <p:cNvSpPr/>
          <p:nvPr/>
        </p:nvSpPr>
        <p:spPr>
          <a:xfrm>
            <a:off x="8366760" y="1463040"/>
            <a:ext cx="3246120" cy="1463040"/>
          </a:xfrm>
          <a:prstGeom prst="roundRect">
            <a:avLst>
              <a:gd name="adj" fmla="val 5000"/>
            </a:avLst>
          </a:prstGeom>
          <a:solidFill>
            <a:schemeClr val="bg2"/>
          </a:solidFill>
          <a:ln w="12700">
            <a:solidFill>
              <a:schemeClr val="bg2"/>
            </a:solidFill>
            <a:prstDash val="solid"/>
          </a:ln>
        </p:spPr>
      </p:sp>
      <p:sp>
        <p:nvSpPr>
          <p:cNvPr id="6" name="stat faster from the daily_cube rollup"/>
          <p:cNvSpPr txBox="1"/>
          <p:nvPr/>
        </p:nvSpPr>
        <p:spPr>
          <a:xfrm>
            <a:off x="8549640" y="1600200"/>
            <a:ext cx="2880360" cy="760781"/>
          </a:xfrm>
          <a:prstGeom prst="rect">
            <a:avLst/>
          </a:prstGeom>
          <a:noFill/>
          <a:ln/>
        </p:spPr>
        <p:txBody>
          <a:bodyPr wrap="square" lIns="0" tIns="0" rIns="0" bIns="0" rtlCol="0" anchor="b"/>
          <a:lstStyle/>
          <a:p>
            <a:pPr indent="0" marL="0">
              <a:buNone/>
            </a:pPr>
            <a:r>
              <a:rPr lang="en-US" sz="3400" b="1" dirty="0">
                <a:solidFill>
                  <a:schemeClr val="accent3"/>
                </a:solidFill>
                <a:latin typeface="Cambria" pitchFamily="34" charset="0"/>
                <a:ea typeface="Cambria" pitchFamily="34" charset="-122"/>
                <a:cs typeface="Cambria" pitchFamily="34" charset="-120"/>
              </a:rPr>
              <a:t>34×–44×</a:t>
            </a:r>
            <a:endParaRPr lang="en-US" sz="3400" dirty="0"/>
          </a:p>
        </p:txBody>
      </p:sp>
      <p:sp>
        <p:nvSpPr>
          <p:cNvPr id="7" name="stat label faster from the daily_cube rollup"/>
          <p:cNvSpPr txBox="1"/>
          <p:nvPr/>
        </p:nvSpPr>
        <p:spPr>
          <a:xfrm>
            <a:off x="8549640" y="2360981"/>
            <a:ext cx="2880360" cy="585216"/>
          </a:xfrm>
          <a:prstGeom prst="rect">
            <a:avLst/>
          </a:prstGeom>
          <a:noFill/>
          <a:ln/>
        </p:spPr>
        <p:txBody>
          <a:bodyPr wrap="square" lIns="0" tIns="0" rIns="0" bIns="0" rtlCol="0" anchor="t"/>
          <a:lstStyle/>
          <a:p>
            <a:pPr indent="0" marL="0">
              <a:buNone/>
            </a:pPr>
            <a:r>
              <a:rPr lang="en-US" sz="1300" dirty="0">
                <a:solidFill>
                  <a:schemeClr val="tx1"/>
                </a:solidFill>
              </a:rPr>
              <a:t>faster from the daily_cube rollup</a:t>
            </a:r>
            <a:endParaRPr lang="en-US" sz="1300" dirty="0"/>
          </a:p>
        </p:txBody>
      </p:sp>
      <p:sp>
        <p:nvSpPr>
          <p:cNvPr id="8" name="bullets"/>
          <p:cNvSpPr txBox="1"/>
          <p:nvPr/>
        </p:nvSpPr>
        <p:spPr>
          <a:xfrm>
            <a:off x="8366760" y="3154680"/>
            <a:ext cx="3246120" cy="301752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chemeClr val="tx1"/>
                </a:solidFill>
              </a:rPr>
              <a:t>Rollups are MongoDB pipelines ending in $merge.</a:t>
            </a:r>
            <a:endParaRPr lang="en-US" sz="1300" dirty="0"/>
          </a:p>
          <a:p>
            <a:pPr marL="228600" indent="-228600">
              <a:spcAft>
                <a:spcPts val="800"/>
              </a:spcAft>
              <a:buSzPct val="100000"/>
              <a:buChar char="•"/>
            </a:pPr>
            <a:r>
              <a:rPr lang="en-US" sz="1300" dirty="0">
                <a:solidFill>
                  <a:schemeClr val="tx1"/>
                </a:solidFill>
              </a:rPr>
              <a:t>Full rebuild of five rollups: 470 s; after an upload only affected days are recomputed.</a:t>
            </a:r>
            <a:endParaRPr lang="en-US" sz="1300" dirty="0"/>
          </a:p>
          <a:p>
            <a:pPr marL="228600" indent="-228600">
              <a:spcAft>
                <a:spcPts val="800"/>
              </a:spcAft>
              <a:buSzPct val="100000"/>
              <a:buChar char="•"/>
            </a:pPr>
            <a:r>
              <a:rPr lang="en-US" sz="1300" dirty="0">
                <a:solidFill>
                  <a:schemeClr val="tx1"/>
                </a:solidFill>
              </a:rPr>
              <a:t>A query planner uses a rollup when it can and a live pipeline when it must.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Sentiment analysis</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NLP</a:t>
            </a:r>
            <a:endParaRPr lang="en-US" sz="1100" dirty="0"/>
          </a:p>
        </p:txBody>
      </p:sp>
      <p:graphicFrame>
        <p:nvGraphicFramePr>
          <p:cNvPr id="4" name="Chart 0" descr=""/>
          <p:cNvGraphicFramePr/>
          <p:nvPr/>
        </p:nvGraphicFramePr>
        <p:xfrm>
          <a:off x="548640" y="1371600"/>
          <a:ext cx="539496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371600"/>
          <a:ext cx="5394960" cy="3931920"/>
        </p:xfrm>
        <a:graphic xmlns:a="http://schemas.openxmlformats.org/drawingml/2006/main">
          <a:graphicData uri="http://schemas.openxmlformats.org/drawingml/2006/chart">
            <c:chart xmlns:c="http://schemas.openxmlformats.org/drawingml/2006/chart" r:id="rId2"/>
          </a:graphicData>
        </a:graphic>
      </p:graphicFrame>
      <p:sp>
        <p:nvSpPr>
          <p:cNvPr id="6" name="sentiment caveat"/>
          <p:cNvSpPr txBox="1"/>
          <p:nvPr/>
        </p:nvSpPr>
        <p:spPr>
          <a:xfrm>
            <a:off x="548640" y="5532120"/>
            <a:ext cx="11064240" cy="640080"/>
          </a:xfrm>
          <a:prstGeom prst="rect">
            <a:avLst/>
          </a:prstGeom>
          <a:noFill/>
          <a:ln/>
        </p:spPr>
        <p:txBody>
          <a:bodyPr wrap="square" lIns="0" tIns="0" rIns="0" bIns="0" rtlCol="0" anchor="ctr"/>
          <a:lstStyle/>
          <a:p>
            <a:pPr indent="0" marL="0">
              <a:buNone/>
            </a:pPr>
            <a:r>
              <a:rPr lang="en-US" sz="1300" i="1" dirty="0">
                <a:solidFill>
                  <a:schemeClr val="accent5"/>
                </a:solidFill>
              </a:rPr>
              <a:t>Logistic regression was chosen on validation macro-F1 (0.650). It is below published TweetEval baselines and not validated on this dataset, so the split is a model output, not ground truth.</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Topics, trends, engagement and anomalies</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ANALYTICS</a:t>
            </a:r>
            <a:endParaRPr lang="en-US" sz="1100" dirty="0"/>
          </a:p>
        </p:txBody>
      </p:sp>
      <p:sp>
        <p:nvSpPr>
          <p:cNvPr id="4" name="card Topics (NMF)"/>
          <p:cNvSpPr/>
          <p:nvPr/>
        </p:nvSpPr>
        <p:spPr>
          <a:xfrm>
            <a:off x="548640" y="1371600"/>
            <a:ext cx="3566160" cy="2011680"/>
          </a:xfrm>
          <a:prstGeom prst="roundRect">
            <a:avLst>
              <a:gd name="adj" fmla="val 3636"/>
            </a:avLst>
          </a:prstGeom>
          <a:solidFill>
            <a:schemeClr val="bg2"/>
          </a:solidFill>
          <a:ln w="12700">
            <a:solidFill>
              <a:schemeClr val="bg2"/>
            </a:solidFill>
            <a:prstDash val="solid"/>
          </a:ln>
        </p:spPr>
      </p:sp>
      <p:sp>
        <p:nvSpPr>
          <p:cNvPr id="5" name="card mark Topics (NMF)"/>
          <p:cNvSpPr/>
          <p:nvPr/>
        </p:nvSpPr>
        <p:spPr>
          <a:xfrm>
            <a:off x="731520" y="1572768"/>
            <a:ext cx="457200" cy="64008"/>
          </a:xfrm>
          <a:prstGeom prst="rect">
            <a:avLst/>
          </a:prstGeom>
          <a:solidFill>
            <a:schemeClr val="accent2"/>
          </a:solidFill>
          <a:ln w="12700">
            <a:solidFill>
              <a:schemeClr val="accent2"/>
            </a:solidFill>
            <a:prstDash val="solid"/>
          </a:ln>
        </p:spPr>
      </p:sp>
      <p:sp>
        <p:nvSpPr>
          <p:cNvPr id="6" name="card head Topics (NMF)"/>
          <p:cNvSpPr txBox="1"/>
          <p:nvPr/>
        </p:nvSpPr>
        <p:spPr>
          <a:xfrm>
            <a:off x="731520" y="1719072"/>
            <a:ext cx="320040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Topics (NMF)</a:t>
            </a:r>
            <a:endParaRPr lang="en-US" sz="1700" dirty="0"/>
          </a:p>
        </p:txBody>
      </p:sp>
      <p:sp>
        <p:nvSpPr>
          <p:cNvPr id="7" name="card body Topics (NMF)"/>
          <p:cNvSpPr txBox="1"/>
          <p:nvPr/>
        </p:nvSpPr>
        <p:spPr>
          <a:xfrm>
            <a:off x="731520" y="2176272"/>
            <a:ext cx="3200400" cy="1097280"/>
          </a:xfrm>
          <a:prstGeom prst="rect">
            <a:avLst/>
          </a:prstGeom>
          <a:noFill/>
          <a:ln/>
        </p:spPr>
        <p:txBody>
          <a:bodyPr wrap="square" lIns="0" tIns="0" rIns="0" bIns="0" rtlCol="0" anchor="t"/>
          <a:lstStyle/>
          <a:p>
            <a:pPr indent="0" marL="0">
              <a:buNone/>
            </a:pPr>
            <a:r>
              <a:rPr lang="en-US" sz="1300" dirty="0">
                <a:solidFill>
                  <a:schemeClr val="tx1"/>
                </a:solidFill>
              </a:rPr>
              <a:t>16 English and 12 Russian topics from TF-IDF 1-2 grams, e.g. "Trump / Donald", "Police / Shooting", "Black / Blacklivesmatter".</a:t>
            </a:r>
            <a:endParaRPr lang="en-US" sz="1300" dirty="0"/>
          </a:p>
        </p:txBody>
      </p:sp>
      <p:sp>
        <p:nvSpPr>
          <p:cNvPr id="8" name="card Trend score"/>
          <p:cNvSpPr/>
          <p:nvPr/>
        </p:nvSpPr>
        <p:spPr>
          <a:xfrm>
            <a:off x="4297680" y="1371600"/>
            <a:ext cx="3566160" cy="2011680"/>
          </a:xfrm>
          <a:prstGeom prst="roundRect">
            <a:avLst>
              <a:gd name="adj" fmla="val 3636"/>
            </a:avLst>
          </a:prstGeom>
          <a:solidFill>
            <a:schemeClr val="bg2"/>
          </a:solidFill>
          <a:ln w="12700">
            <a:solidFill>
              <a:schemeClr val="bg2"/>
            </a:solidFill>
            <a:prstDash val="solid"/>
          </a:ln>
        </p:spPr>
      </p:sp>
      <p:sp>
        <p:nvSpPr>
          <p:cNvPr id="9" name="card mark Trend score"/>
          <p:cNvSpPr/>
          <p:nvPr/>
        </p:nvSpPr>
        <p:spPr>
          <a:xfrm>
            <a:off x="4480560" y="1572768"/>
            <a:ext cx="457200" cy="64008"/>
          </a:xfrm>
          <a:prstGeom prst="rect">
            <a:avLst/>
          </a:prstGeom>
          <a:solidFill>
            <a:schemeClr val="accent3"/>
          </a:solidFill>
          <a:ln w="12700">
            <a:solidFill>
              <a:schemeClr val="accent3"/>
            </a:solidFill>
            <a:prstDash val="solid"/>
          </a:ln>
        </p:spPr>
      </p:sp>
      <p:sp>
        <p:nvSpPr>
          <p:cNvPr id="10" name="card head Trend score"/>
          <p:cNvSpPr txBox="1"/>
          <p:nvPr/>
        </p:nvSpPr>
        <p:spPr>
          <a:xfrm>
            <a:off x="4480560" y="1719072"/>
            <a:ext cx="320040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Trend score</a:t>
            </a:r>
            <a:endParaRPr lang="en-US" sz="1700" dirty="0"/>
          </a:p>
        </p:txBody>
      </p:sp>
      <p:sp>
        <p:nvSpPr>
          <p:cNvPr id="11" name="card body Trend score"/>
          <p:cNvSpPr txBox="1"/>
          <p:nvPr/>
        </p:nvSpPr>
        <p:spPr>
          <a:xfrm>
            <a:off x="4480560" y="2176272"/>
            <a:ext cx="3200400" cy="1097280"/>
          </a:xfrm>
          <a:prstGeom prst="rect">
            <a:avLst/>
          </a:prstGeom>
          <a:noFill/>
          <a:ln/>
        </p:spPr>
        <p:txBody>
          <a:bodyPr wrap="square" lIns="0" tIns="0" rIns="0" bIns="0" rtlCol="0" anchor="t"/>
          <a:lstStyle/>
          <a:p>
            <a:pPr indent="0" marL="0">
              <a:buNone/>
            </a:pPr>
            <a:r>
              <a:rPr lang="en-US" sz="1300" dirty="0">
                <a:solidFill>
                  <a:schemeClr val="tx1"/>
                </a:solidFill>
              </a:rPr>
              <a:t>Window over window growth weighted by volume and reach. Week to 2016-11-08: #trumpforpresident rose from 1 to 1,682 posts (score 34.8).</a:t>
            </a:r>
            <a:endParaRPr lang="en-US" sz="1300" dirty="0"/>
          </a:p>
        </p:txBody>
      </p:sp>
      <p:sp>
        <p:nvSpPr>
          <p:cNvPr id="12" name="card Anomalies"/>
          <p:cNvSpPr/>
          <p:nvPr/>
        </p:nvSpPr>
        <p:spPr>
          <a:xfrm>
            <a:off x="8046720" y="1371600"/>
            <a:ext cx="3566160" cy="2011680"/>
          </a:xfrm>
          <a:prstGeom prst="roundRect">
            <a:avLst>
              <a:gd name="adj" fmla="val 3636"/>
            </a:avLst>
          </a:prstGeom>
          <a:solidFill>
            <a:schemeClr val="bg2"/>
          </a:solidFill>
          <a:ln w="12700">
            <a:solidFill>
              <a:schemeClr val="bg2"/>
            </a:solidFill>
            <a:prstDash val="solid"/>
          </a:ln>
        </p:spPr>
      </p:sp>
      <p:sp>
        <p:nvSpPr>
          <p:cNvPr id="13" name="card mark Anomalies"/>
          <p:cNvSpPr/>
          <p:nvPr/>
        </p:nvSpPr>
        <p:spPr>
          <a:xfrm>
            <a:off x="8229600" y="1572768"/>
            <a:ext cx="457200" cy="64008"/>
          </a:xfrm>
          <a:prstGeom prst="rect">
            <a:avLst/>
          </a:prstGeom>
          <a:solidFill>
            <a:schemeClr val="accent2"/>
          </a:solidFill>
          <a:ln w="12700">
            <a:solidFill>
              <a:schemeClr val="accent2"/>
            </a:solidFill>
            <a:prstDash val="solid"/>
          </a:ln>
        </p:spPr>
      </p:sp>
      <p:sp>
        <p:nvSpPr>
          <p:cNvPr id="14" name="card head Anomalies"/>
          <p:cNvSpPr txBox="1"/>
          <p:nvPr/>
        </p:nvSpPr>
        <p:spPr>
          <a:xfrm>
            <a:off x="8229600" y="1719072"/>
            <a:ext cx="320040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Anomalies</a:t>
            </a:r>
            <a:endParaRPr lang="en-US" sz="1700" dirty="0"/>
          </a:p>
        </p:txBody>
      </p:sp>
      <p:sp>
        <p:nvSpPr>
          <p:cNvPr id="15" name="card body Anomalies"/>
          <p:cNvSpPr txBox="1"/>
          <p:nvPr/>
        </p:nvSpPr>
        <p:spPr>
          <a:xfrm>
            <a:off x="8229600" y="2176272"/>
            <a:ext cx="3200400" cy="1097280"/>
          </a:xfrm>
          <a:prstGeom prst="rect">
            <a:avLst/>
          </a:prstGeom>
          <a:noFill/>
          <a:ln/>
        </p:spPr>
        <p:txBody>
          <a:bodyPr wrap="square" lIns="0" tIns="0" rIns="0" bIns="0" rtlCol="0" anchor="t"/>
          <a:lstStyle/>
          <a:p>
            <a:pPr indent="0" marL="0">
              <a:buNone/>
            </a:pPr>
            <a:r>
              <a:rPr lang="en-US" sz="1300" dirty="0">
                <a:solidFill>
                  <a:schemeClr val="tx1"/>
                </a:solidFill>
              </a:rPr>
              <a:t>Rolling 28-day z-score with $setWindowFields, IQR and Isolation Forest. 128 of 1,699 days flagged; 2016-10-06 had 18,634 posts vs 3,483 expected (z = 7.1).</a:t>
            </a:r>
            <a:endParaRPr lang="en-US" sz="1300" dirty="0"/>
          </a:p>
        </p:txBody>
      </p:sp>
      <p:sp>
        <p:nvSpPr>
          <p:cNvPr id="16" name="frame site_methods_13_anomaly-detection.png"/>
          <p:cNvSpPr/>
          <p:nvPr/>
        </p:nvSpPr>
        <p:spPr>
          <a:xfrm>
            <a:off x="1426745" y="3529584"/>
            <a:ext cx="3638749" cy="2724912"/>
          </a:xfrm>
          <a:prstGeom prst="rect">
            <a:avLst/>
          </a:prstGeom>
          <a:solidFill>
            <a:schemeClr val="bg1"/>
          </a:solidFill>
          <a:ln w="9525">
            <a:solidFill>
              <a:srgbClr val="D9D4C7"/>
            </a:solidFill>
            <a:prstDash val="solid"/>
          </a:ln>
        </p:spPr>
      </p:sp>
      <p:pic>
        <p:nvPicPr>
          <p:cNvPr id="17" name="img site_methods_13_anomaly-detection.png" descr="site methods 13 anomaly detection">    </p:cNvPr>
          <p:cNvPicPr>
            <a:picLocks noChangeAspect="1"/>
          </p:cNvPicPr>
          <p:nvPr/>
        </p:nvPicPr>
        <p:blipFill>
          <a:blip r:embed="rId1"/>
          <a:stretch>
            <a:fillRect/>
          </a:stretch>
        </p:blipFill>
        <p:spPr>
          <a:xfrm>
            <a:off x="1463321" y="3566160"/>
            <a:ext cx="3565597" cy="2651760"/>
          </a:xfrm>
          <a:prstGeom prst="rect">
            <a:avLst/>
          </a:prstGeom>
        </p:spPr>
      </p:pic>
      <p:sp>
        <p:nvSpPr>
          <p:cNvPr id="18" name="frame site_methods_12_trend-score.png"/>
          <p:cNvSpPr/>
          <p:nvPr/>
        </p:nvSpPr>
        <p:spPr>
          <a:xfrm>
            <a:off x="7096025" y="3529584"/>
            <a:ext cx="3638749" cy="2724912"/>
          </a:xfrm>
          <a:prstGeom prst="rect">
            <a:avLst/>
          </a:prstGeom>
          <a:solidFill>
            <a:schemeClr val="bg1"/>
          </a:solidFill>
          <a:ln w="9525">
            <a:solidFill>
              <a:srgbClr val="D9D4C7"/>
            </a:solidFill>
            <a:prstDash val="solid"/>
          </a:ln>
        </p:spPr>
      </p:sp>
      <p:pic>
        <p:nvPicPr>
          <p:cNvPr id="19" name="img site_methods_12_trend-score.png" descr="site methods 12 trend score">    </p:cNvPr>
          <p:cNvPicPr>
            <a:picLocks noChangeAspect="1"/>
          </p:cNvPicPr>
          <p:nvPr/>
        </p:nvPicPr>
        <p:blipFill>
          <a:blip r:embed="rId2"/>
          <a:stretch>
            <a:fillRect/>
          </a:stretch>
        </p:blipFill>
        <p:spPr>
          <a:xfrm>
            <a:off x="7132601" y="3566160"/>
            <a:ext cx="3565597" cy="2651760"/>
          </a:xfrm>
          <a:prstGeom prst="rect">
            <a:avLst/>
          </a:prstGeom>
        </p:spPr>
      </p:pic>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NLP throughput on a CPU</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RESULTS · NLP</a:t>
            </a:r>
            <a:endParaRPr lang="en-US" sz="1100" dirty="0"/>
          </a:p>
        </p:txBody>
      </p:sp>
      <p:graphicFrame>
        <p:nvGraphicFramePr>
          <p:cNvPr id="4" name="Chart 0" descr=""/>
          <p:cNvGraphicFramePr/>
          <p:nvPr/>
        </p:nvGraphicFramePr>
        <p:xfrm>
          <a:off x="548640" y="1371600"/>
          <a:ext cx="5669280" cy="4206240"/>
        </p:xfrm>
        <a:graphic xmlns:a="http://schemas.openxmlformats.org/drawingml/2006/main">
          <a:graphicData uri="http://schemas.openxmlformats.org/drawingml/2006/chart">
            <c:chart xmlns:c="http://schemas.openxmlformats.org/drawingml/2006/chart" r:id="rId1"/>
          </a:graphicData>
        </a:graphic>
      </p:graphicFrame>
      <p:sp>
        <p:nvSpPr>
          <p:cNvPr id="5" name="stat card posts/s end to end, 1 worker"/>
          <p:cNvSpPr/>
          <p:nvPr/>
        </p:nvSpPr>
        <p:spPr>
          <a:xfrm>
            <a:off x="6583680" y="1463040"/>
            <a:ext cx="2423160" cy="1463040"/>
          </a:xfrm>
          <a:prstGeom prst="roundRect">
            <a:avLst>
              <a:gd name="adj" fmla="val 5000"/>
            </a:avLst>
          </a:prstGeom>
          <a:solidFill>
            <a:schemeClr val="bg2"/>
          </a:solidFill>
          <a:ln w="12700">
            <a:solidFill>
              <a:schemeClr val="bg2"/>
            </a:solidFill>
            <a:prstDash val="solid"/>
          </a:ln>
        </p:spPr>
      </p:sp>
      <p:sp>
        <p:nvSpPr>
          <p:cNvPr id="6" name="stat posts/s end to end, 1 worker"/>
          <p:cNvSpPr txBox="1"/>
          <p:nvPr/>
        </p:nvSpPr>
        <p:spPr>
          <a:xfrm>
            <a:off x="6766560" y="1600200"/>
            <a:ext cx="2057400" cy="760781"/>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5,213</a:t>
            </a:r>
            <a:endParaRPr lang="en-US" sz="3400" dirty="0"/>
          </a:p>
        </p:txBody>
      </p:sp>
      <p:sp>
        <p:nvSpPr>
          <p:cNvPr id="7" name="stat label posts/s end to end, 1 worker"/>
          <p:cNvSpPr txBox="1"/>
          <p:nvPr/>
        </p:nvSpPr>
        <p:spPr>
          <a:xfrm>
            <a:off x="6766560" y="2360981"/>
            <a:ext cx="2057400" cy="585216"/>
          </a:xfrm>
          <a:prstGeom prst="rect">
            <a:avLst/>
          </a:prstGeom>
          <a:noFill/>
          <a:ln/>
        </p:spPr>
        <p:txBody>
          <a:bodyPr wrap="square" lIns="0" tIns="0" rIns="0" bIns="0" rtlCol="0" anchor="t"/>
          <a:lstStyle/>
          <a:p>
            <a:pPr indent="0" marL="0">
              <a:buNone/>
            </a:pPr>
            <a:r>
              <a:rPr lang="en-US" sz="1300" dirty="0">
                <a:solidFill>
                  <a:schemeClr val="tx1"/>
                </a:solidFill>
              </a:rPr>
              <a:t>posts/s end to end, 1 worker</a:t>
            </a:r>
            <a:endParaRPr lang="en-US" sz="1300" dirty="0"/>
          </a:p>
        </p:txBody>
      </p:sp>
      <p:sp>
        <p:nvSpPr>
          <p:cNvPr id="8" name="stat card posts/s end to end, 2 workers"/>
          <p:cNvSpPr/>
          <p:nvPr/>
        </p:nvSpPr>
        <p:spPr>
          <a:xfrm>
            <a:off x="9189720" y="1463040"/>
            <a:ext cx="2423160" cy="1463040"/>
          </a:xfrm>
          <a:prstGeom prst="roundRect">
            <a:avLst>
              <a:gd name="adj" fmla="val 5000"/>
            </a:avLst>
          </a:prstGeom>
          <a:solidFill>
            <a:schemeClr val="bg2"/>
          </a:solidFill>
          <a:ln w="12700">
            <a:solidFill>
              <a:schemeClr val="bg2"/>
            </a:solidFill>
            <a:prstDash val="solid"/>
          </a:ln>
        </p:spPr>
      </p:sp>
      <p:sp>
        <p:nvSpPr>
          <p:cNvPr id="9" name="stat posts/s end to end, 2 workers"/>
          <p:cNvSpPr txBox="1"/>
          <p:nvPr/>
        </p:nvSpPr>
        <p:spPr>
          <a:xfrm>
            <a:off x="9372600" y="1600200"/>
            <a:ext cx="2057400" cy="760781"/>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10,355</a:t>
            </a:r>
            <a:endParaRPr lang="en-US" sz="3400" dirty="0"/>
          </a:p>
        </p:txBody>
      </p:sp>
      <p:sp>
        <p:nvSpPr>
          <p:cNvPr id="10" name="stat label posts/s end to end, 2 workers"/>
          <p:cNvSpPr txBox="1"/>
          <p:nvPr/>
        </p:nvSpPr>
        <p:spPr>
          <a:xfrm>
            <a:off x="9372600" y="2360981"/>
            <a:ext cx="2057400" cy="585216"/>
          </a:xfrm>
          <a:prstGeom prst="rect">
            <a:avLst/>
          </a:prstGeom>
          <a:noFill/>
          <a:ln/>
        </p:spPr>
        <p:txBody>
          <a:bodyPr wrap="square" lIns="0" tIns="0" rIns="0" bIns="0" rtlCol="0" anchor="t"/>
          <a:lstStyle/>
          <a:p>
            <a:pPr indent="0" marL="0">
              <a:buNone/>
            </a:pPr>
            <a:r>
              <a:rPr lang="en-US" sz="1300" dirty="0">
                <a:solidFill>
                  <a:schemeClr val="tx1"/>
                </a:solidFill>
              </a:rPr>
              <a:t>posts/s end to end, 2 workers</a:t>
            </a:r>
            <a:endParaRPr lang="en-US" sz="1300" dirty="0"/>
          </a:p>
        </p:txBody>
      </p:sp>
      <p:sp>
        <p:nvSpPr>
          <p:cNvPr id="11" name="bullets"/>
          <p:cNvSpPr txBox="1"/>
          <p:nvPr/>
        </p:nvSpPr>
        <p:spPr>
          <a:xfrm>
            <a:off x="6583680" y="3154680"/>
            <a:ext cx="5029200" cy="292608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The enrichment job reads, runs both models and bulk-writes results.</a:t>
            </a:r>
            <a:endParaRPr lang="en-US" sz="1400" dirty="0"/>
          </a:p>
          <a:p>
            <a:pPr marL="228600" indent="-228600">
              <a:spcAft>
                <a:spcPts val="800"/>
              </a:spcAft>
              <a:buSzPct val="100000"/>
              <a:buChar char="•"/>
            </a:pPr>
            <a:r>
              <a:rPr lang="en-US" sz="1400" dirty="0">
                <a:solidFill>
                  <a:schemeClr val="tx1"/>
                </a:solidFill>
              </a:rPr>
              <a:t>With two or more workers, 16 of 19 s were spent waiting on database writes: writes, not models, became the limit.</a:t>
            </a:r>
            <a:endParaRPr lang="en-US" sz="1400" dirty="0"/>
          </a:p>
          <a:p>
            <a:pPr marL="228600" indent="-228600">
              <a:spcAft>
                <a:spcPts val="800"/>
              </a:spcAft>
              <a:buSzPct val="100000"/>
              <a:buChar char="•"/>
            </a:pPr>
            <a:r>
              <a:rPr lang="en-US" sz="1400" dirty="0">
                <a:solidFill>
                  <a:schemeClr val="tx1"/>
                </a:solidFill>
              </a:rPr>
              <a:t>At that rate all 2.94M posts enrich in about 5 minutes (extrapolated).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468880"/>
            <a:ext cx="10698480" cy="1097280"/>
          </a:xfrm>
          <a:prstGeom prst="rect">
            <a:avLst/>
          </a:prstGeom>
          <a:noFill/>
          <a:ln/>
        </p:spPr>
        <p:txBody>
          <a:bodyPr wrap="square" lIns="0" tIns="0" rIns="0" bIns="0" rtlCol="0" anchor="b"/>
          <a:lstStyle/>
          <a:p>
            <a:pPr algn="l" indent="0" marL="0">
              <a:buNone/>
            </a:pPr>
            <a:r>
              <a:rPr lang="en-US" sz="4000" b="1" dirty="0">
                <a:solidFill>
                  <a:schemeClr val="bg1"/>
                </a:solidFill>
              </a:rPr>
              <a:t>Big Data Lab</a:t>
            </a:r>
            <a:endParaRPr lang="en-US" sz="4000" dirty="0"/>
          </a:p>
        </p:txBody>
      </p:sp>
      <p:sp>
        <p:nvSpPr>
          <p:cNvPr id="3" name="Text 0"/>
          <p:cNvSpPr/>
          <p:nvPr>
            <p:ph idx="101" type="body" hasCustomPrompt="1"/>
          </p:nvPr>
        </p:nvSpPr>
        <p:spPr>
          <a:xfrm>
            <a:off x="731520" y="3703320"/>
            <a:ext cx="10058400" cy="1097280"/>
          </a:xfrm>
          <a:prstGeom prst="rect">
            <a:avLst/>
          </a:prstGeom>
          <a:noFill/>
          <a:ln/>
        </p:spPr>
        <p:txBody>
          <a:bodyPr wrap="square" lIns="0" tIns="0" rIns="0" bIns="0" rtlCol="0" anchor="t"/>
          <a:lstStyle/>
          <a:p>
            <a:pPr algn="l" indent="0" marL="0">
              <a:buNone/>
            </a:pPr>
            <a:r>
              <a:rPr lang="en-US" sz="1800" dirty="0">
                <a:solidFill>
                  <a:schemeClr val="bg2"/>
                </a:solidFill>
              </a:rPr>
              <a:t>The same archive processed with Apache Spark into a bronze, silver and gold Parquet data lake, then loaded into a three-shard MongoDB cluster.</a:t>
            </a:r>
            <a:endParaRPr lang="en-US" sz="1800" dirty="0"/>
          </a:p>
        </p:txBody>
      </p:sp>
      <p:sp>
        <p:nvSpPr>
          <p:cNvPr id="4" name="divider mark"/>
          <p:cNvSpPr/>
          <p:nvPr/>
        </p:nvSpPr>
        <p:spPr>
          <a:xfrm>
            <a:off x="731520" y="2240280"/>
            <a:ext cx="822960" cy="82296"/>
          </a:xfrm>
          <a:prstGeom prst="rect">
            <a:avLst/>
          </a:prstGeom>
          <a:solidFill>
            <a:schemeClr val="accent2"/>
          </a:solidFill>
          <a:ln w="12700">
            <a:solidFill>
              <a:schemeClr val="accent2"/>
            </a:solidFill>
            <a:prstDash val="solid"/>
          </a:ln>
        </p:spPr>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Big Data Lab architecture</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BIG DATA LAB</a:t>
            </a:r>
            <a:endParaRPr lang="en-US" sz="1100" dirty="0"/>
          </a:p>
        </p:txBody>
      </p:sp>
      <p:sp>
        <p:nvSpPr>
          <p:cNvPr id="4" name="frame lab_architecture_diagram.png"/>
          <p:cNvSpPr/>
          <p:nvPr/>
        </p:nvSpPr>
        <p:spPr>
          <a:xfrm>
            <a:off x="678176" y="1335024"/>
            <a:ext cx="10805168" cy="4919472"/>
          </a:xfrm>
          <a:prstGeom prst="rect">
            <a:avLst/>
          </a:prstGeom>
          <a:solidFill>
            <a:schemeClr val="bg1"/>
          </a:solidFill>
          <a:ln w="9525">
            <a:solidFill>
              <a:srgbClr val="D9D4C7"/>
            </a:solidFill>
            <a:prstDash val="solid"/>
          </a:ln>
        </p:spPr>
      </p:sp>
      <p:pic>
        <p:nvPicPr>
          <p:cNvPr id="5" name="img lab_architecture_diagram.png" descr="lab architecture diagram">    </p:cNvPr>
          <p:cNvPicPr>
            <a:picLocks noChangeAspect="1"/>
          </p:cNvPicPr>
          <p:nvPr/>
        </p:nvPicPr>
        <p:blipFill>
          <a:blip r:embed="rId1"/>
          <a:stretch>
            <a:fillRect/>
          </a:stretch>
        </p:blipFill>
        <p:spPr>
          <a:xfrm>
            <a:off x="714752" y="1371600"/>
            <a:ext cx="10732016" cy="4846320"/>
          </a:xfrm>
          <a:prstGeom prst="rect">
            <a:avLst/>
          </a:prstGeom>
        </p:spPr>
      </p:pic>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Spark pipeline: 2.94M rows in 147 seconds</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APACHE SPARK</a:t>
            </a:r>
            <a:endParaRPr lang="en-US" sz="1100" dirty="0"/>
          </a:p>
        </p:txBody>
      </p:sp>
      <p:graphicFrame>
        <p:nvGraphicFramePr>
          <p:cNvPr id="4" name="Chart 0" descr=""/>
          <p:cNvGraphicFramePr/>
          <p:nvPr/>
        </p:nvGraphicFramePr>
        <p:xfrm>
          <a:off x="548640" y="1371600"/>
          <a:ext cx="5852160" cy="3566160"/>
        </p:xfrm>
        <a:graphic xmlns:a="http://schemas.openxmlformats.org/drawingml/2006/main">
          <a:graphicData uri="http://schemas.openxmlformats.org/drawingml/2006/chart">
            <c:chart xmlns:c="http://schemas.openxmlformats.org/drawingml/2006/chart" r:id="rId1"/>
          </a:graphicData>
        </a:graphic>
      </p:graphicFrame>
      <p:sp>
        <p:nvSpPr>
          <p:cNvPr id="5" name="bullets"/>
          <p:cNvSpPr txBox="1"/>
          <p:nvPr/>
        </p:nvSpPr>
        <p:spPr>
          <a:xfrm>
            <a:off x="6675120" y="1463040"/>
            <a:ext cx="4937760" cy="356616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chemeClr val="tx2"/>
                </a:solidFill>
              </a:rPr>
              <a:t>Lazy evaluation: </a:t>
            </a:r>
            <a:pPr indent="0" marL="0">
              <a:buNone/>
            </a:pPr>
            <a:r>
              <a:rPr lang="en-US" sz="1400" dirty="0">
                <a:solidFill>
                  <a:schemeClr val="tx1"/>
                </a:solidFill>
              </a:rPr>
              <a:t>transformations build a plan; actions like write run it.</a:t>
            </a:r>
            <a:endParaRPr lang="en-US" sz="1400" dirty="0"/>
          </a:p>
          <a:p>
            <a:pPr marL="228600" indent="-228600">
              <a:spcAft>
                <a:spcPts val="800"/>
              </a:spcAft>
              <a:buSzPct val="100000"/>
              <a:buChar char="•"/>
            </a:pPr>
            <a:r>
              <a:rPr lang="en-US" sz="1400" b="1" dirty="0">
                <a:solidFill>
                  <a:schemeClr val="tx2"/>
                </a:solidFill>
              </a:rPr>
              <a:t>Stages and shuffles: </a:t>
            </a:r>
            <a:pPr indent="0" marL="0">
              <a:buNone/>
            </a:pPr>
            <a:r>
              <a:rPr lang="en-US" sz="1400" dirty="0">
                <a:solidFill>
                  <a:schemeClr val="tx1"/>
                </a:solidFill>
              </a:rPr>
              <a:t>dropDuplicates(post_id) moves equal ids to one task, the MapReduce pattern.</a:t>
            </a:r>
            <a:endParaRPr lang="en-US" sz="1400" dirty="0"/>
          </a:p>
          <a:p>
            <a:pPr marL="228600" indent="-228600">
              <a:spcAft>
                <a:spcPts val="800"/>
              </a:spcAft>
              <a:buSzPct val="100000"/>
              <a:buChar char="•"/>
            </a:pPr>
            <a:r>
              <a:rPr lang="en-US" sz="1400" b="1" dirty="0">
                <a:solidFill>
                  <a:schemeClr val="tx2"/>
                </a:solidFill>
              </a:rPr>
              <a:t>Same logic as Python: </a:t>
            </a:r>
            <a:pPr indent="0" marL="0">
              <a:buNone/>
            </a:pPr>
            <a:r>
              <a:rPr lang="en-US" sz="1400" dirty="0">
                <a:solidFill>
                  <a:schemeClr val="tx1"/>
                </a:solidFill>
              </a:rPr>
              <a:t>output matched the Python pipeline field for field on a 1,000-row sample.</a:t>
            </a:r>
            <a:endParaRPr lang="en-US" sz="1400" dirty="0"/>
          </a:p>
          <a:p>
            <a:pPr marL="228600" indent="-228600">
              <a:spcAft>
                <a:spcPts val="800"/>
              </a:spcAft>
              <a:buSzPct val="100000"/>
              <a:buChar char="•"/>
            </a:pPr>
            <a:r>
              <a:rPr lang="en-US" sz="1400" b="1" dirty="0">
                <a:solidFill>
                  <a:schemeClr val="tx2"/>
                </a:solidFill>
              </a:rPr>
              <a:t>Portable: </a:t>
            </a:r>
            <a:pPr indent="0" marL="0">
              <a:buNone/>
            </a:pPr>
            <a:r>
              <a:rPr lang="en-US" sz="1400" dirty="0">
                <a:solidFill>
                  <a:schemeClr val="tx1"/>
                </a:solidFill>
              </a:rPr>
              <a:t>change local[*] to a YARN or Kubernetes master to run on a cluster.</a:t>
            </a:r>
            <a:endParaRPr lang="en-US" sz="1400" dirty="0"/>
          </a:p>
        </p:txBody>
      </p:sp>
      <p:sp>
        <p:nvSpPr>
          <p:cNvPr id="6" name="stat card raw rows in"/>
          <p:cNvSpPr/>
          <p:nvPr/>
        </p:nvSpPr>
        <p:spPr>
          <a:xfrm>
            <a:off x="548640" y="5074920"/>
            <a:ext cx="2743200" cy="1143000"/>
          </a:xfrm>
          <a:prstGeom prst="roundRect">
            <a:avLst>
              <a:gd name="adj" fmla="val 6400"/>
            </a:avLst>
          </a:prstGeom>
          <a:solidFill>
            <a:schemeClr val="bg2"/>
          </a:solidFill>
          <a:ln w="12700">
            <a:solidFill>
              <a:schemeClr val="bg2"/>
            </a:solidFill>
            <a:prstDash val="solid"/>
          </a:ln>
        </p:spPr>
      </p:sp>
      <p:sp>
        <p:nvSpPr>
          <p:cNvPr id="7" name="stat raw rows in"/>
          <p:cNvSpPr txBox="1"/>
          <p:nvPr/>
        </p:nvSpPr>
        <p:spPr>
          <a:xfrm>
            <a:off x="731520" y="5212080"/>
            <a:ext cx="2377440" cy="59436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2,945,912</a:t>
            </a:r>
            <a:endParaRPr lang="en-US" sz="3400" dirty="0"/>
          </a:p>
        </p:txBody>
      </p:sp>
      <p:sp>
        <p:nvSpPr>
          <p:cNvPr id="8" name="stat label raw rows in"/>
          <p:cNvSpPr txBox="1"/>
          <p:nvPr/>
        </p:nvSpPr>
        <p:spPr>
          <a:xfrm>
            <a:off x="731520" y="5806440"/>
            <a:ext cx="2377440" cy="457200"/>
          </a:xfrm>
          <a:prstGeom prst="rect">
            <a:avLst/>
          </a:prstGeom>
          <a:noFill/>
          <a:ln/>
        </p:spPr>
        <p:txBody>
          <a:bodyPr wrap="square" lIns="0" tIns="0" rIns="0" bIns="0" rtlCol="0" anchor="t"/>
          <a:lstStyle/>
          <a:p>
            <a:pPr indent="0" marL="0">
              <a:buNone/>
            </a:pPr>
            <a:r>
              <a:rPr lang="en-US" sz="1300" dirty="0">
                <a:solidFill>
                  <a:schemeClr val="tx1"/>
                </a:solidFill>
              </a:rPr>
              <a:t>raw rows in</a:t>
            </a:r>
            <a:endParaRPr lang="en-US" sz="1300" dirty="0"/>
          </a:p>
        </p:txBody>
      </p:sp>
      <p:sp>
        <p:nvSpPr>
          <p:cNvPr id="9" name="stat card silver posts out"/>
          <p:cNvSpPr/>
          <p:nvPr/>
        </p:nvSpPr>
        <p:spPr>
          <a:xfrm>
            <a:off x="3429000" y="5074920"/>
            <a:ext cx="2743200" cy="1143000"/>
          </a:xfrm>
          <a:prstGeom prst="roundRect">
            <a:avLst>
              <a:gd name="adj" fmla="val 6400"/>
            </a:avLst>
          </a:prstGeom>
          <a:solidFill>
            <a:schemeClr val="bg2"/>
          </a:solidFill>
          <a:ln w="12700">
            <a:solidFill>
              <a:schemeClr val="bg2"/>
            </a:solidFill>
            <a:prstDash val="solid"/>
          </a:ln>
        </p:spPr>
      </p:sp>
      <p:sp>
        <p:nvSpPr>
          <p:cNvPr id="10" name="stat silver posts out"/>
          <p:cNvSpPr txBox="1"/>
          <p:nvPr/>
        </p:nvSpPr>
        <p:spPr>
          <a:xfrm>
            <a:off x="3611880" y="5212080"/>
            <a:ext cx="2377440" cy="594360"/>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2,944,519</a:t>
            </a:r>
            <a:endParaRPr lang="en-US" sz="3400" dirty="0"/>
          </a:p>
        </p:txBody>
      </p:sp>
      <p:sp>
        <p:nvSpPr>
          <p:cNvPr id="11" name="stat label silver posts out"/>
          <p:cNvSpPr txBox="1"/>
          <p:nvPr/>
        </p:nvSpPr>
        <p:spPr>
          <a:xfrm>
            <a:off x="3611880" y="5806440"/>
            <a:ext cx="2377440" cy="457200"/>
          </a:xfrm>
          <a:prstGeom prst="rect">
            <a:avLst/>
          </a:prstGeom>
          <a:noFill/>
          <a:ln/>
        </p:spPr>
        <p:txBody>
          <a:bodyPr wrap="square" lIns="0" tIns="0" rIns="0" bIns="0" rtlCol="0" anchor="t"/>
          <a:lstStyle/>
          <a:p>
            <a:pPr indent="0" marL="0">
              <a:buNone/>
            </a:pPr>
            <a:r>
              <a:rPr lang="en-US" sz="1300" dirty="0">
                <a:solidFill>
                  <a:schemeClr val="tx1"/>
                </a:solidFill>
              </a:rPr>
              <a:t>silver posts out</a:t>
            </a:r>
            <a:endParaRPr lang="en-US" sz="1300" dirty="0"/>
          </a:p>
        </p:txBody>
      </p:sp>
      <p:sp>
        <p:nvSpPr>
          <p:cNvPr id="12" name="stat card duplicate ids dropped"/>
          <p:cNvSpPr/>
          <p:nvPr/>
        </p:nvSpPr>
        <p:spPr>
          <a:xfrm>
            <a:off x="6309360" y="5074920"/>
            <a:ext cx="2560320" cy="1143000"/>
          </a:xfrm>
          <a:prstGeom prst="roundRect">
            <a:avLst>
              <a:gd name="adj" fmla="val 6400"/>
            </a:avLst>
          </a:prstGeom>
          <a:solidFill>
            <a:schemeClr val="bg2"/>
          </a:solidFill>
          <a:ln w="12700">
            <a:solidFill>
              <a:schemeClr val="bg2"/>
            </a:solidFill>
            <a:prstDash val="solid"/>
          </a:ln>
        </p:spPr>
      </p:sp>
      <p:sp>
        <p:nvSpPr>
          <p:cNvPr id="13" name="stat duplicate ids dropped"/>
          <p:cNvSpPr txBox="1"/>
          <p:nvPr/>
        </p:nvSpPr>
        <p:spPr>
          <a:xfrm>
            <a:off x="6492240" y="5212080"/>
            <a:ext cx="2194560" cy="594360"/>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1,392</a:t>
            </a:r>
            <a:endParaRPr lang="en-US" sz="3400" dirty="0"/>
          </a:p>
        </p:txBody>
      </p:sp>
      <p:sp>
        <p:nvSpPr>
          <p:cNvPr id="14" name="stat label duplicate ids dropped"/>
          <p:cNvSpPr txBox="1"/>
          <p:nvPr/>
        </p:nvSpPr>
        <p:spPr>
          <a:xfrm>
            <a:off x="6492240" y="5806440"/>
            <a:ext cx="2194560" cy="457200"/>
          </a:xfrm>
          <a:prstGeom prst="rect">
            <a:avLst/>
          </a:prstGeom>
          <a:noFill/>
          <a:ln/>
        </p:spPr>
        <p:txBody>
          <a:bodyPr wrap="square" lIns="0" tIns="0" rIns="0" bIns="0" rtlCol="0" anchor="t"/>
          <a:lstStyle/>
          <a:p>
            <a:pPr indent="0" marL="0">
              <a:buNone/>
            </a:pPr>
            <a:r>
              <a:rPr lang="en-US" sz="1300" dirty="0">
                <a:solidFill>
                  <a:schemeClr val="tx1"/>
                </a:solidFill>
              </a:rPr>
              <a:t>duplicate ids dropped</a:t>
            </a:r>
            <a:endParaRPr lang="en-US" sz="1300" dirty="0"/>
          </a:p>
        </p:txBody>
      </p:sp>
      <p:sp>
        <p:nvSpPr>
          <p:cNvPr id="15" name="stat card overall throughput"/>
          <p:cNvSpPr/>
          <p:nvPr/>
        </p:nvSpPr>
        <p:spPr>
          <a:xfrm>
            <a:off x="9006840" y="5074920"/>
            <a:ext cx="2606040" cy="1143000"/>
          </a:xfrm>
          <a:prstGeom prst="roundRect">
            <a:avLst>
              <a:gd name="adj" fmla="val 6400"/>
            </a:avLst>
          </a:prstGeom>
          <a:solidFill>
            <a:schemeClr val="bg2"/>
          </a:solidFill>
          <a:ln w="12700">
            <a:solidFill>
              <a:schemeClr val="bg2"/>
            </a:solidFill>
            <a:prstDash val="solid"/>
          </a:ln>
        </p:spPr>
      </p:sp>
      <p:sp>
        <p:nvSpPr>
          <p:cNvPr id="16" name="stat overall throughput"/>
          <p:cNvSpPr txBox="1"/>
          <p:nvPr/>
        </p:nvSpPr>
        <p:spPr>
          <a:xfrm>
            <a:off x="9189720" y="5212080"/>
            <a:ext cx="2240280" cy="594360"/>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20K rows/s</a:t>
            </a:r>
            <a:endParaRPr lang="en-US" sz="3400" dirty="0"/>
          </a:p>
        </p:txBody>
      </p:sp>
      <p:sp>
        <p:nvSpPr>
          <p:cNvPr id="17" name="stat label overall throughput"/>
          <p:cNvSpPr txBox="1"/>
          <p:nvPr/>
        </p:nvSpPr>
        <p:spPr>
          <a:xfrm>
            <a:off x="9189720" y="5806440"/>
            <a:ext cx="2240280" cy="457200"/>
          </a:xfrm>
          <a:prstGeom prst="rect">
            <a:avLst/>
          </a:prstGeom>
          <a:noFill/>
          <a:ln/>
        </p:spPr>
        <p:txBody>
          <a:bodyPr wrap="square" lIns="0" tIns="0" rIns="0" bIns="0" rtlCol="0" anchor="t"/>
          <a:lstStyle/>
          <a:p>
            <a:pPr indent="0" marL="0">
              <a:buNone/>
            </a:pPr>
            <a:r>
              <a:rPr lang="en-US" sz="1300" dirty="0">
                <a:solidFill>
                  <a:schemeClr val="tx1"/>
                </a:solidFill>
              </a:rPr>
              <a:t>overall throughput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Spark scaling with cores and data size</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APACHE SPARK</a:t>
            </a:r>
            <a:endParaRPr lang="en-US" sz="1100" dirty="0"/>
          </a:p>
        </p:txBody>
      </p:sp>
      <p:graphicFrame>
        <p:nvGraphicFramePr>
          <p:cNvPr id="4" name="Chart 0" descr=""/>
          <p:cNvGraphicFramePr/>
          <p:nvPr/>
        </p:nvGraphicFramePr>
        <p:xfrm>
          <a:off x="548640" y="1371600"/>
          <a:ext cx="54864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309360" y="1371600"/>
          <a:ext cx="5303520" cy="2743200"/>
        </p:xfrm>
        <a:graphic xmlns:a="http://schemas.openxmlformats.org/drawingml/2006/main">
          <a:graphicData uri="http://schemas.openxmlformats.org/drawingml/2006/chart">
            <c:chart xmlns:c="http://schemas.openxmlformats.org/drawingml/2006/chart" r:id="rId2"/>
          </a:graphicData>
        </a:graphic>
      </p:graphicFrame>
      <p:sp>
        <p:nvSpPr>
          <p:cNvPr id="6" name="bullets"/>
          <p:cNvSpPr txBox="1"/>
          <p:nvPr/>
        </p:nvSpPr>
        <p:spPr>
          <a:xfrm>
            <a:off x="6309360" y="4343400"/>
            <a:ext cx="5303520" cy="18288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Efficiency 92% at 2 cores and 62% at 4: shuffles and I/O do not parallelise perfectly.</a:t>
            </a:r>
            <a:endParaRPr lang="en-US" sz="1400" dirty="0"/>
          </a:p>
          <a:p>
            <a:pPr marL="228600" indent="-228600">
              <a:spcAft>
                <a:spcPts val="800"/>
              </a:spcAft>
              <a:buSzPct val="100000"/>
              <a:buChar char="•"/>
            </a:pPr>
            <a:r>
              <a:rPr lang="en-US" sz="1400" dirty="0">
                <a:solidFill>
                  <a:schemeClr val="tx1"/>
                </a:solidFill>
              </a:rPr>
              <a:t>100K rows: 4,840 rows/s; 2.94M rows: 26,185 rows/s. Fixed start-up cost dominates small inputs.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Medallion data lake: bronze, silver, gold</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DATA LAKE</a:t>
            </a:r>
            <a:endParaRPr lang="en-US" sz="1100" dirty="0"/>
          </a:p>
        </p:txBody>
      </p:sp>
      <p:sp>
        <p:nvSpPr>
          <p:cNvPr id="4" name="frame lab_lake_layers.png"/>
          <p:cNvSpPr/>
          <p:nvPr/>
        </p:nvSpPr>
        <p:spPr>
          <a:xfrm>
            <a:off x="512064" y="1975274"/>
            <a:ext cx="6656832" cy="3593251"/>
          </a:xfrm>
          <a:prstGeom prst="rect">
            <a:avLst/>
          </a:prstGeom>
          <a:solidFill>
            <a:schemeClr val="bg1"/>
          </a:solidFill>
          <a:ln w="9525">
            <a:solidFill>
              <a:srgbClr val="D9D4C7"/>
            </a:solidFill>
            <a:prstDash val="solid"/>
          </a:ln>
        </p:spPr>
      </p:sp>
      <p:pic>
        <p:nvPicPr>
          <p:cNvPr id="5" name="img lab_lake_layers.png" descr="lab lake layers">    </p:cNvPr>
          <p:cNvPicPr>
            <a:picLocks noChangeAspect="1"/>
          </p:cNvPicPr>
          <p:nvPr/>
        </p:nvPicPr>
        <p:blipFill>
          <a:blip r:embed="rId1"/>
          <a:stretch>
            <a:fillRect/>
          </a:stretch>
        </p:blipFill>
        <p:spPr>
          <a:xfrm>
            <a:off x="548640" y="2011850"/>
            <a:ext cx="6583680" cy="3520099"/>
          </a:xfrm>
          <a:prstGeom prst="rect">
            <a:avLst/>
          </a:prstGeom>
        </p:spPr>
      </p:pic>
      <p:graphicFrame>
        <p:nvGraphicFramePr>
          <p:cNvPr id="6" name="Chart 0" descr=""/>
          <p:cNvGraphicFramePr/>
          <p:nvPr/>
        </p:nvGraphicFramePr>
        <p:xfrm>
          <a:off x="7360920" y="1371600"/>
          <a:ext cx="4251960" cy="3108960"/>
        </p:xfrm>
        <a:graphic xmlns:a="http://schemas.openxmlformats.org/drawingml/2006/main">
          <a:graphicData uri="http://schemas.openxmlformats.org/drawingml/2006/chart">
            <c:chart xmlns:c="http://schemas.openxmlformats.org/drawingml/2006/chart" r:id="rId2"/>
          </a:graphicData>
        </a:graphic>
      </p:graphicFrame>
      <p:sp>
        <p:nvSpPr>
          <p:cNvPr id="7" name="bullets"/>
          <p:cNvSpPr txBox="1"/>
          <p:nvPr/>
        </p:nvSpPr>
        <p:spPr>
          <a:xfrm>
            <a:off x="7360920" y="4663440"/>
            <a:ext cx="4251960" cy="1554480"/>
          </a:xfrm>
          <a:prstGeom prst="rect">
            <a:avLst/>
          </a:prstGeom>
          <a:noFill/>
          <a:ln/>
        </p:spPr>
        <p:txBody>
          <a:bodyPr wrap="square" lIns="0" tIns="0" rIns="0" bIns="0" rtlCol="0" anchor="t"/>
          <a:lstStyle/>
          <a:p>
            <a:pPr marL="228600" indent="-228600">
              <a:spcAft>
                <a:spcPts val="800"/>
              </a:spcAft>
              <a:buSzPct val="100000"/>
              <a:buChar char="•"/>
            </a:pPr>
            <a:r>
              <a:rPr lang="en-US" sz="1300" b="1" dirty="0">
                <a:solidFill>
                  <a:schemeClr val="tx2"/>
                </a:solidFill>
              </a:rPr>
              <a:t>Bronze: </a:t>
            </a:r>
            <a:pPr indent="0" marL="0">
              <a:buNone/>
            </a:pPr>
            <a:r>
              <a:rPr lang="en-US" sz="1300" dirty="0">
                <a:solidFill>
                  <a:schemeClr val="tx1"/>
                </a:solidFill>
              </a:rPr>
              <a:t>raw rows as Parquet plus lineage columns.</a:t>
            </a:r>
            <a:endParaRPr lang="en-US" sz="1300" dirty="0"/>
          </a:p>
          <a:p>
            <a:pPr marL="228600" indent="-228600">
              <a:spcAft>
                <a:spcPts val="800"/>
              </a:spcAft>
              <a:buSzPct val="100000"/>
              <a:buChar char="•"/>
            </a:pPr>
            <a:r>
              <a:rPr lang="en-US" sz="1300" b="1" dirty="0">
                <a:solidFill>
                  <a:schemeClr val="tx2"/>
                </a:solidFill>
              </a:rPr>
              <a:t>Silver: </a:t>
            </a:r>
            <a:pPr indent="0" marL="0">
              <a:buNone/>
            </a:pPr>
            <a:r>
              <a:rPr lang="en-US" sz="1300" dirty="0">
                <a:solidFill>
                  <a:schemeClr val="tx1"/>
                </a:solidFill>
              </a:rPr>
              <a:t>cleaned, 74 year/month partitions.</a:t>
            </a:r>
            <a:endParaRPr lang="en-US" sz="1300" dirty="0"/>
          </a:p>
          <a:p>
            <a:pPr marL="228600" indent="-228600">
              <a:spcAft>
                <a:spcPts val="800"/>
              </a:spcAft>
              <a:buSzPct val="100000"/>
              <a:buChar char="•"/>
            </a:pPr>
            <a:r>
              <a:rPr lang="en-US" sz="1300" b="1" dirty="0">
                <a:solidFill>
                  <a:schemeClr val="tx2"/>
                </a:solidFill>
              </a:rPr>
              <a:t>Gold: </a:t>
            </a:r>
            <a:pPr indent="0" marL="0">
              <a:buNone/>
            </a:pPr>
            <a:r>
              <a:rPr lang="en-US" sz="1300" dirty="0">
                <a:solidFill>
                  <a:schemeClr val="tx1"/>
                </a:solidFill>
              </a:rPr>
              <a:t>five small aggregate tables.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File formats and partition pruning</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DATA LAKE</a:t>
            </a:r>
            <a:endParaRPr lang="en-US" sz="1100" dirty="0"/>
          </a:p>
        </p:txBody>
      </p:sp>
      <p:graphicFrame>
        <p:nvGraphicFramePr>
          <p:cNvPr id="4" name="Chart 0" descr=""/>
          <p:cNvGraphicFramePr/>
          <p:nvPr/>
        </p:nvGraphicFramePr>
        <p:xfrm>
          <a:off x="548640" y="1371600"/>
          <a:ext cx="539496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371600"/>
          <a:ext cx="5394960" cy="4114800"/>
        </p:xfrm>
        <a:graphic xmlns:a="http://schemas.openxmlformats.org/drawingml/2006/main">
          <a:graphicData uri="http://schemas.openxmlformats.org/drawingml/2006/chart">
            <c:chart xmlns:c="http://schemas.openxmlformats.org/drawingml/2006/chart" r:id="rId2"/>
          </a:graphicData>
        </a:graphic>
      </p:graphicFrame>
      <p:sp>
        <p:nvSpPr>
          <p:cNvPr id="6" name="takeaway"/>
          <p:cNvSpPr txBox="1"/>
          <p:nvPr/>
        </p:nvSpPr>
        <p:spPr>
          <a:xfrm>
            <a:off x="548640" y="5669280"/>
            <a:ext cx="11064240" cy="548640"/>
          </a:xfrm>
          <a:prstGeom prst="rect">
            <a:avLst/>
          </a:prstGeom>
          <a:noFill/>
          <a:ln/>
        </p:spPr>
        <p:txBody>
          <a:bodyPr wrap="square" lIns="0" tIns="0" rIns="0" bIns="0" rtlCol="0" anchor="ctr"/>
          <a:lstStyle/>
          <a:p>
            <a:pPr indent="0" marL="0">
              <a:buNone/>
            </a:pPr>
            <a:r>
              <a:rPr lang="en-US" sz="1500" b="1" dirty="0">
                <a:solidFill>
                  <a:schemeClr val="accent2"/>
                </a:solidFill>
              </a:rPr>
              <a:t>zstd Parquet is 5.7× smaller than JSON. Partitioning by year and month lets Spark read 1 of 74 folders: 20× faster than CSV for a one-month query.</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Gold layer insights</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DATA LAKE</a:t>
            </a:r>
            <a:endParaRPr lang="en-US" sz="1100" dirty="0"/>
          </a:p>
        </p:txBody>
      </p:sp>
      <p:sp>
        <p:nvSpPr>
          <p:cNvPr id="4" name="frame lab_gold_activity.png"/>
          <p:cNvSpPr/>
          <p:nvPr/>
        </p:nvSpPr>
        <p:spPr>
          <a:xfrm>
            <a:off x="512064" y="1335024"/>
            <a:ext cx="5910815" cy="2404872"/>
          </a:xfrm>
          <a:prstGeom prst="rect">
            <a:avLst/>
          </a:prstGeom>
          <a:solidFill>
            <a:schemeClr val="bg1"/>
          </a:solidFill>
          <a:ln w="9525">
            <a:solidFill>
              <a:srgbClr val="D9D4C7"/>
            </a:solidFill>
            <a:prstDash val="solid"/>
          </a:ln>
        </p:spPr>
      </p:sp>
      <p:pic>
        <p:nvPicPr>
          <p:cNvPr id="5" name="img lab_gold_activity.png" descr="lab gold activity">    </p:cNvPr>
          <p:cNvPicPr>
            <a:picLocks noChangeAspect="1"/>
          </p:cNvPicPr>
          <p:nvPr/>
        </p:nvPicPr>
        <p:blipFill>
          <a:blip r:embed="rId1"/>
          <a:stretch>
            <a:fillRect/>
          </a:stretch>
        </p:blipFill>
        <p:spPr>
          <a:xfrm>
            <a:off x="548640" y="1371600"/>
            <a:ext cx="5837663" cy="2331720"/>
          </a:xfrm>
          <a:prstGeom prst="rect">
            <a:avLst/>
          </a:prstGeom>
        </p:spPr>
      </p:pic>
      <p:sp>
        <p:nvSpPr>
          <p:cNvPr id="6" name="frame lab_gold_hashtags.png"/>
          <p:cNvSpPr/>
          <p:nvPr/>
        </p:nvSpPr>
        <p:spPr>
          <a:xfrm>
            <a:off x="512064" y="3849624"/>
            <a:ext cx="5204112" cy="2404872"/>
          </a:xfrm>
          <a:prstGeom prst="rect">
            <a:avLst/>
          </a:prstGeom>
          <a:solidFill>
            <a:schemeClr val="bg1"/>
          </a:solidFill>
          <a:ln w="9525">
            <a:solidFill>
              <a:srgbClr val="D9D4C7"/>
            </a:solidFill>
            <a:prstDash val="solid"/>
          </a:ln>
        </p:spPr>
      </p:sp>
      <p:pic>
        <p:nvPicPr>
          <p:cNvPr id="7" name="img lab_gold_hashtags.png" descr="lab gold hashtags">    </p:cNvPr>
          <p:cNvPicPr>
            <a:picLocks noChangeAspect="1"/>
          </p:cNvPicPr>
          <p:nvPr/>
        </p:nvPicPr>
        <p:blipFill>
          <a:blip r:embed="rId2"/>
          <a:stretch>
            <a:fillRect/>
          </a:stretch>
        </p:blipFill>
        <p:spPr>
          <a:xfrm>
            <a:off x="548640" y="3886200"/>
            <a:ext cx="5130960" cy="2331720"/>
          </a:xfrm>
          <a:prstGeom prst="rect">
            <a:avLst/>
          </a:prstGeom>
        </p:spPr>
      </p:pic>
      <p:sp>
        <p:nvSpPr>
          <p:cNvPr id="8" name="card Five gold tables, 5.8 MB"/>
          <p:cNvSpPr/>
          <p:nvPr/>
        </p:nvSpPr>
        <p:spPr>
          <a:xfrm>
            <a:off x="7315200" y="1417320"/>
            <a:ext cx="4297680" cy="4754880"/>
          </a:xfrm>
          <a:prstGeom prst="roundRect">
            <a:avLst>
              <a:gd name="adj" fmla="val 1702"/>
            </a:avLst>
          </a:prstGeom>
          <a:solidFill>
            <a:schemeClr val="bg2"/>
          </a:solidFill>
          <a:ln w="12700">
            <a:solidFill>
              <a:schemeClr val="bg2"/>
            </a:solidFill>
            <a:prstDash val="solid"/>
          </a:ln>
        </p:spPr>
      </p:sp>
      <p:sp>
        <p:nvSpPr>
          <p:cNvPr id="9" name="card mark Five gold tables, 5.8 MB"/>
          <p:cNvSpPr/>
          <p:nvPr/>
        </p:nvSpPr>
        <p:spPr>
          <a:xfrm>
            <a:off x="7498080" y="1618488"/>
            <a:ext cx="457200" cy="64008"/>
          </a:xfrm>
          <a:prstGeom prst="rect">
            <a:avLst/>
          </a:prstGeom>
          <a:solidFill>
            <a:schemeClr val="accent2"/>
          </a:solidFill>
          <a:ln w="12700">
            <a:solidFill>
              <a:schemeClr val="accent2"/>
            </a:solidFill>
            <a:prstDash val="solid"/>
          </a:ln>
        </p:spPr>
      </p:sp>
      <p:sp>
        <p:nvSpPr>
          <p:cNvPr id="10" name="card head Five gold tables, 5.8 MB"/>
          <p:cNvSpPr txBox="1"/>
          <p:nvPr/>
        </p:nvSpPr>
        <p:spPr>
          <a:xfrm>
            <a:off x="7498080" y="1764792"/>
            <a:ext cx="393192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Five gold tables, 5.8 MB</a:t>
            </a:r>
            <a:endParaRPr lang="en-US" sz="1700" dirty="0"/>
          </a:p>
        </p:txBody>
      </p:sp>
      <p:sp>
        <p:nvSpPr>
          <p:cNvPr id="11" name="card body Five gold tables, 5.8 MB"/>
          <p:cNvSpPr txBox="1"/>
          <p:nvPr/>
        </p:nvSpPr>
        <p:spPr>
          <a:xfrm>
            <a:off x="7498080" y="2221992"/>
            <a:ext cx="3931920" cy="38404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Daily activity by account category</a:t>
            </a:r>
            <a:endParaRPr lang="en-US" sz="1400" dirty="0"/>
          </a:p>
          <a:p>
            <a:pPr indent="0" marL="0">
              <a:spcAft>
                <a:spcPts val="400"/>
              </a:spcAft>
              <a:buNone/>
            </a:pPr>
            <a:r>
              <a:rPr lang="en-US" sz="1400" dirty="0">
                <a:solidFill>
                  <a:schemeClr val="tx1"/>
                </a:solidFill>
              </a:rPr>
              <a:t>• Hashtag counts per day</a:t>
            </a:r>
            <a:endParaRPr lang="en-US" sz="1400" dirty="0"/>
          </a:p>
          <a:p>
            <a:pPr indent="0" marL="0">
              <a:spcAft>
                <a:spcPts val="400"/>
              </a:spcAft>
              <a:buNone/>
            </a:pPr>
            <a:r>
              <a:rPr lang="en-US" sz="1400" dirty="0">
                <a:solidFill>
                  <a:schemeClr val="tx1"/>
                </a:solidFill>
              </a:rPr>
              <a:t>• Top hashtags with first and last use</a:t>
            </a:r>
            <a:endParaRPr lang="en-US" sz="1400" dirty="0"/>
          </a:p>
          <a:p>
            <a:pPr indent="0" marL="0">
              <a:spcAft>
                <a:spcPts val="400"/>
              </a:spcAft>
              <a:buNone/>
            </a:pPr>
            <a:r>
              <a:rPr lang="en-US" sz="1400" dirty="0">
                <a:solidFill>
                  <a:schemeClr val="tx1"/>
                </a:solidFill>
              </a:rPr>
              <a:t>• Account statistics</a:t>
            </a:r>
            <a:endParaRPr lang="en-US" sz="1400" dirty="0"/>
          </a:p>
          <a:p>
            <a:pPr indent="0" marL="0">
              <a:spcAft>
                <a:spcPts val="400"/>
              </a:spcAft>
              <a:buNone/>
            </a:pPr>
            <a:r>
              <a:rPr lang="en-US" sz="1400" dirty="0">
                <a:solidFill>
                  <a:schemeClr val="tx1"/>
                </a:solidFill>
              </a:rPr>
              <a:t>• Monthly category totals</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Each table answers one dashboard question directly, so the website reads a few kilobytes instead of 2.94M rows. Activity peaks around the 2016 US election, with news-feed and right-troll accounts dominating.</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Sharding MongoDB: hashed versus ranged keys</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SHARDING</a:t>
            </a:r>
            <a:endParaRPr lang="en-US" sz="1100" dirty="0"/>
          </a:p>
        </p:txBody>
      </p:sp>
      <p:sp>
        <p:nvSpPr>
          <p:cNvPr id="4" name="frame lab_sharding_topology.png"/>
          <p:cNvSpPr/>
          <p:nvPr/>
        </p:nvSpPr>
        <p:spPr>
          <a:xfrm>
            <a:off x="512064" y="1346487"/>
            <a:ext cx="6473952" cy="2930586"/>
          </a:xfrm>
          <a:prstGeom prst="rect">
            <a:avLst/>
          </a:prstGeom>
          <a:solidFill>
            <a:schemeClr val="bg1"/>
          </a:solidFill>
          <a:ln w="9525">
            <a:solidFill>
              <a:srgbClr val="D9D4C7"/>
            </a:solidFill>
            <a:prstDash val="solid"/>
          </a:ln>
        </p:spPr>
      </p:sp>
      <p:pic>
        <p:nvPicPr>
          <p:cNvPr id="5" name="img lab_sharding_topology.png" descr="lab sharding topology">    </p:cNvPr>
          <p:cNvPicPr>
            <a:picLocks noChangeAspect="1"/>
          </p:cNvPicPr>
          <p:nvPr/>
        </p:nvPicPr>
        <p:blipFill>
          <a:blip r:embed="rId1"/>
          <a:stretch>
            <a:fillRect/>
          </a:stretch>
        </p:blipFill>
        <p:spPr>
          <a:xfrm>
            <a:off x="548640" y="1383063"/>
            <a:ext cx="6400800" cy="2857434"/>
          </a:xfrm>
          <a:prstGeom prst="rect">
            <a:avLst/>
          </a:prstGeom>
        </p:spPr>
      </p:pic>
      <p:graphicFrame>
        <p:nvGraphicFramePr>
          <p:cNvPr id="24" name="routing table"/>
          <p:cNvGraphicFramePr>
            <a:graphicFrameLocks noGrp="1"/>
          </p:cNvGraphicFramePr>
          <p:nvPr>
            <p:extLst>
              <p:ext uri="{D42A27DB-BD31-4B8C-83A1-F6EECF244321}">
                <p14:modId xmlns:p14="http://schemas.microsoft.com/office/powerpoint/2010/main" val="1579011935"/>
              </p:ext>
            </p:extLst>
          </p:nvPr>
        </p:nvGraphicFramePr>
        <p:xfrm>
          <a:off x="548640" y="4434840"/>
          <a:ext cx="6400800" cy="914400"/>
        </p:xfrm>
        <a:graphic>
          <a:graphicData uri="http://schemas.openxmlformats.org/drawingml/2006/table">
            <a:tbl>
              <a:tblPr/>
              <a:tblGrid>
                <a:gridCol w="2743200"/>
                <a:gridCol w="1828800"/>
                <a:gridCol w="1828800"/>
              </a:tblGrid>
              <a:tr h="411480">
                <a:tc>
                  <a:txBody>
                    <a:bodyPr/>
                    <a:lstStyle/>
                    <a:p>
                      <a:pPr indent="0" marL="0">
                        <a:buNone/>
                      </a:pPr>
                      <a:r>
                        <a:rPr lang="en-US" sz="1300" b="1" dirty="0">
                          <a:solidFill>
                            <a:srgbClr val="FFFFFF"/>
                          </a:solidFill>
                        </a:rPr>
                        <a:t>Query on 1M posts</a:t>
                      </a:r>
                      <a:endParaRPr lang="en-US" sz="13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0F4C5C"/>
                    </a:solidFill>
                  </a:tcPr>
                </a:tc>
                <a:tc>
                  <a:txBody>
                    <a:bodyPr/>
                    <a:lstStyle/>
                    <a:p>
                      <a:pPr indent="0" marL="0">
                        <a:buNone/>
                      </a:pPr>
                      <a:r>
                        <a:rPr lang="en-US" sz="1300" b="1" dirty="0">
                          <a:solidFill>
                            <a:srgbClr val="FFFFFF"/>
                          </a:solidFill>
                        </a:rPr>
                        <a:t>Hashed key</a:t>
                      </a:r>
                      <a:endParaRPr lang="en-US" sz="13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0F4C5C"/>
                    </a:solidFill>
                  </a:tcPr>
                </a:tc>
                <a:tc>
                  <a:txBody>
                    <a:bodyPr/>
                    <a:lstStyle/>
                    <a:p>
                      <a:pPr indent="0" marL="0">
                        <a:buNone/>
                      </a:pPr>
                      <a:r>
                        <a:rPr lang="en-US" sz="1300" b="1" dirty="0">
                          <a:solidFill>
                            <a:srgbClr val="FFFFFF"/>
                          </a:solidFill>
                        </a:rPr>
                        <a:t>Ranged key</a:t>
                      </a:r>
                      <a:endParaRPr lang="en-US" sz="13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0F4C5C"/>
                    </a:solidFill>
                  </a:tcPr>
                </a:tc>
              </a:tr>
              <a:tr h="411480">
                <a:tc>
                  <a:txBody>
                    <a:bodyPr/>
                    <a:lstStyle/>
                    <a:p>
                      <a:pPr indent="0" marL="0">
                        <a:buNone/>
                      </a:pPr>
                      <a:r>
                        <a:rPr lang="en-US" sz="1300" dirty="0">
                          <a:solidFill>
                            <a:srgbClr val="1F2328"/>
                          </a:solidFill>
                        </a:rPr>
                        <a:t>Lookup by post_id</a:t>
                      </a:r>
                      <a:endParaRPr lang="en-US" sz="13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rPr>
                        <a:t>1 shard</a:t>
                      </a:r>
                      <a:endParaRPr lang="en-US" sz="13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rPr>
                        <a:t>all 3 shards</a:t>
                      </a:r>
                      <a:endParaRPr lang="en-US" sz="13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F2328"/>
                          </a:solidFill>
                        </a:rPr>
                        <a:t>One-week date range</a:t>
                      </a:r>
                      <a:endParaRPr lang="en-US" sz="13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rPr>
                        <a:t>all 3 shards</a:t>
                      </a:r>
                      <a:endParaRPr lang="en-US" sz="13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rPr>
                        <a:t>1 shard</a:t>
                      </a:r>
                      <a:endParaRPr lang="en-US" sz="13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F2328"/>
                          </a:solidFill>
                        </a:rPr>
                        <a:t>Documents per shard</a:t>
                      </a:r>
                      <a:endParaRPr lang="en-US" sz="13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rPr>
                        <a:t>33.3–33.4%</a:t>
                      </a:r>
                      <a:endParaRPr lang="en-US" sz="13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rPr>
                        <a:t>33.3–33.4%</a:t>
                      </a:r>
                      <a:endParaRPr lang="en-US" sz="1300" dirty="0"/>
                    </a:p>
                  </a:txBody>
                  <a:tcPr marL="73152" marR="73152" marT="27432" marB="27432"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bl>
          </a:graphicData>
        </a:graphic>
      </p:graphicFrame>
      <p:sp>
        <p:nvSpPr>
          <p:cNvPr id="7" name="card Hashed key: post_id"/>
          <p:cNvSpPr/>
          <p:nvPr/>
        </p:nvSpPr>
        <p:spPr>
          <a:xfrm>
            <a:off x="7269480" y="1417320"/>
            <a:ext cx="4343400" cy="2331720"/>
          </a:xfrm>
          <a:prstGeom prst="roundRect">
            <a:avLst>
              <a:gd name="adj" fmla="val 3137"/>
            </a:avLst>
          </a:prstGeom>
          <a:solidFill>
            <a:schemeClr val="bg2"/>
          </a:solidFill>
          <a:ln w="12700">
            <a:solidFill>
              <a:schemeClr val="bg2"/>
            </a:solidFill>
            <a:prstDash val="solid"/>
          </a:ln>
        </p:spPr>
      </p:sp>
      <p:sp>
        <p:nvSpPr>
          <p:cNvPr id="8" name="card mark Hashed key: post_id"/>
          <p:cNvSpPr/>
          <p:nvPr/>
        </p:nvSpPr>
        <p:spPr>
          <a:xfrm>
            <a:off x="7452360" y="1618488"/>
            <a:ext cx="457200" cy="64008"/>
          </a:xfrm>
          <a:prstGeom prst="rect">
            <a:avLst/>
          </a:prstGeom>
          <a:solidFill>
            <a:schemeClr val="accent2"/>
          </a:solidFill>
          <a:ln w="12700">
            <a:solidFill>
              <a:schemeClr val="accent2"/>
            </a:solidFill>
            <a:prstDash val="solid"/>
          </a:ln>
        </p:spPr>
      </p:sp>
      <p:sp>
        <p:nvSpPr>
          <p:cNvPr id="9" name="card head Hashed key: post_id"/>
          <p:cNvSpPr txBox="1"/>
          <p:nvPr/>
        </p:nvSpPr>
        <p:spPr>
          <a:xfrm>
            <a:off x="7452360" y="1764792"/>
            <a:ext cx="397764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Hashed key: post_id</a:t>
            </a:r>
            <a:endParaRPr lang="en-US" sz="1700" dirty="0"/>
          </a:p>
        </p:txBody>
      </p:sp>
      <p:sp>
        <p:nvSpPr>
          <p:cNvPr id="10" name="card body Hashed key: post_id"/>
          <p:cNvSpPr txBox="1"/>
          <p:nvPr/>
        </p:nvSpPr>
        <p:spPr>
          <a:xfrm>
            <a:off x="7452360" y="2221992"/>
            <a:ext cx="3977640" cy="1417320"/>
          </a:xfrm>
          <a:prstGeom prst="rect">
            <a:avLst/>
          </a:prstGeom>
          <a:noFill/>
          <a:ln/>
        </p:spPr>
        <p:txBody>
          <a:bodyPr wrap="square" lIns="0" tIns="0" rIns="0" bIns="0" rtlCol="0" anchor="t"/>
          <a:lstStyle/>
          <a:p>
            <a:pPr indent="0" marL="0">
              <a:buNone/>
            </a:pPr>
            <a:r>
              <a:rPr lang="en-US" sz="1400" dirty="0">
                <a:solidFill>
                  <a:schemeClr val="tx1"/>
                </a:solidFill>
              </a:rPr>
              <a:t>Even spread (33.3% per shard). Lookups by post_id hit 1 shard; date ranges are broadcast to all 3.</a:t>
            </a:r>
            <a:endParaRPr lang="en-US" sz="1400" dirty="0"/>
          </a:p>
        </p:txBody>
      </p:sp>
      <p:sp>
        <p:nvSpPr>
          <p:cNvPr id="11" name="card Ranged key: created_at"/>
          <p:cNvSpPr/>
          <p:nvPr/>
        </p:nvSpPr>
        <p:spPr>
          <a:xfrm>
            <a:off x="7269480" y="3886200"/>
            <a:ext cx="4343400" cy="2331720"/>
          </a:xfrm>
          <a:prstGeom prst="roundRect">
            <a:avLst>
              <a:gd name="adj" fmla="val 3137"/>
            </a:avLst>
          </a:prstGeom>
          <a:solidFill>
            <a:schemeClr val="bg2"/>
          </a:solidFill>
          <a:ln w="12700">
            <a:solidFill>
              <a:schemeClr val="bg2"/>
            </a:solidFill>
            <a:prstDash val="solid"/>
          </a:ln>
        </p:spPr>
      </p:sp>
      <p:sp>
        <p:nvSpPr>
          <p:cNvPr id="12" name="card mark Ranged key: created_at"/>
          <p:cNvSpPr/>
          <p:nvPr/>
        </p:nvSpPr>
        <p:spPr>
          <a:xfrm>
            <a:off x="7452360" y="4087368"/>
            <a:ext cx="457200" cy="64008"/>
          </a:xfrm>
          <a:prstGeom prst="rect">
            <a:avLst/>
          </a:prstGeom>
          <a:solidFill>
            <a:schemeClr val="accent3"/>
          </a:solidFill>
          <a:ln w="12700">
            <a:solidFill>
              <a:schemeClr val="accent3"/>
            </a:solidFill>
            <a:prstDash val="solid"/>
          </a:ln>
        </p:spPr>
      </p:sp>
      <p:sp>
        <p:nvSpPr>
          <p:cNvPr id="13" name="card head Ranged key: created_at"/>
          <p:cNvSpPr txBox="1"/>
          <p:nvPr/>
        </p:nvSpPr>
        <p:spPr>
          <a:xfrm>
            <a:off x="7452360" y="4233672"/>
            <a:ext cx="397764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Ranged key: created_at</a:t>
            </a:r>
            <a:endParaRPr lang="en-US" sz="1700" dirty="0"/>
          </a:p>
        </p:txBody>
      </p:sp>
      <p:sp>
        <p:nvSpPr>
          <p:cNvPr id="14" name="card body Ranged key: created_at"/>
          <p:cNvSpPr txBox="1"/>
          <p:nvPr/>
        </p:nvSpPr>
        <p:spPr>
          <a:xfrm>
            <a:off x="7452360" y="4690872"/>
            <a:ext cx="3977640" cy="1417320"/>
          </a:xfrm>
          <a:prstGeom prst="rect">
            <a:avLst/>
          </a:prstGeom>
          <a:noFill/>
          <a:ln/>
        </p:spPr>
        <p:txBody>
          <a:bodyPr wrap="square" lIns="0" tIns="0" rIns="0" bIns="0" rtlCol="0" anchor="t"/>
          <a:lstStyle/>
          <a:p>
            <a:pPr indent="0" marL="0">
              <a:buNone/>
            </a:pPr>
            <a:r>
              <a:rPr lang="en-US" sz="1400" dirty="0">
                <a:solidFill>
                  <a:schemeClr val="tx1"/>
                </a:solidFill>
              </a:rPr>
              <a:t>Pre-split at the terciles, also 33.3% per shard. A one-week range hits 1 shard; a post_id lookup goes to all 3.</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Sharding results</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SHARDING</a:t>
            </a:r>
            <a:endParaRPr lang="en-US" sz="1100" dirty="0"/>
          </a:p>
        </p:txBody>
      </p:sp>
      <p:graphicFrame>
        <p:nvGraphicFramePr>
          <p:cNvPr id="4" name="Chart 0" descr=""/>
          <p:cNvGraphicFramePr/>
          <p:nvPr/>
        </p:nvGraphicFramePr>
        <p:xfrm>
          <a:off x="548640" y="1371600"/>
          <a:ext cx="539496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371600"/>
          <a:ext cx="5394960" cy="2743200"/>
        </p:xfrm>
        <a:graphic xmlns:a="http://schemas.openxmlformats.org/drawingml/2006/main">
          <a:graphicData uri="http://schemas.openxmlformats.org/drawingml/2006/chart">
            <c:chart xmlns:c="http://schemas.openxmlformats.org/drawingml/2006/chart" r:id="rId2"/>
          </a:graphicData>
        </a:graphic>
      </p:graphicFrame>
      <p:sp>
        <p:nvSpPr>
          <p:cNvPr id="6" name="bullets"/>
          <p:cNvSpPr txBox="1"/>
          <p:nvPr/>
        </p:nvSpPr>
        <p:spPr>
          <a:xfrm>
            <a:off x="6217920" y="4297680"/>
            <a:ext cx="5394960" cy="192024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chemeClr val="tx1"/>
                </a:solidFill>
              </a:rPr>
              <a:t>Aggregation is 2.2 to 2.5× faster: each shard groups a third in parallel and mongos merges.</a:t>
            </a:r>
            <a:endParaRPr lang="en-US" sz="1300" dirty="0"/>
          </a:p>
          <a:p>
            <a:pPr marL="228600" indent="-228600">
              <a:spcAft>
                <a:spcPts val="800"/>
              </a:spcAft>
              <a:buSzPct val="100000"/>
              <a:buChar char="•"/>
            </a:pPr>
            <a:r>
              <a:rPr lang="en-US" sz="1300" dirty="0">
                <a:solidFill>
                  <a:schemeClr val="tx1"/>
                </a:solidFill>
              </a:rPr>
              <a:t>Writes through mongos were slower (51,160 vs 64,670 docs/s): routing has a cost.</a:t>
            </a:r>
            <a:endParaRPr lang="en-US" sz="1300" dirty="0"/>
          </a:p>
          <a:p>
            <a:pPr marL="228600" indent="-228600">
              <a:spcAft>
                <a:spcPts val="800"/>
              </a:spcAft>
              <a:buSzPct val="100000"/>
              <a:buChar char="•"/>
            </a:pPr>
            <a:r>
              <a:rPr lang="en-US" sz="1300" dirty="0">
                <a:solidFill>
                  <a:schemeClr val="tx1"/>
                </a:solidFill>
              </a:rPr>
              <a:t>Choose the shard key from the most common query, not from the data alone.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685800"/>
          </a:xfrm>
          <a:prstGeom prst="rect">
            <a:avLst/>
          </a:prstGeom>
          <a:noFill/>
          <a:ln/>
        </p:spPr>
        <p:txBody>
          <a:bodyPr wrap="square" lIns="0" tIns="0" rIns="0" bIns="0" rtlCol="0" anchor="t"/>
          <a:lstStyle/>
          <a:p>
            <a:pPr algn="l" indent="0" marL="0">
              <a:buNone/>
            </a:pPr>
            <a:r>
              <a:rPr lang="en-US" sz="2800" b="1" dirty="0">
                <a:solidFill>
                  <a:schemeClr val="tx2"/>
                </a:solidFill>
              </a:rPr>
              <a:t>Limitations and future scope</a:t>
            </a:r>
            <a:endParaRPr lang="en-US" sz="2800" dirty="0"/>
          </a:p>
        </p:txBody>
      </p:sp>
      <p:sp>
        <p:nvSpPr>
          <p:cNvPr id="3" name="kicker"/>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HONEST LIMITS</a:t>
            </a:r>
            <a:endParaRPr lang="en-US" sz="1100" dirty="0"/>
          </a:p>
        </p:txBody>
      </p:sp>
      <p:sp>
        <p:nvSpPr>
          <p:cNvPr id="4" name="card Limitations"/>
          <p:cNvSpPr/>
          <p:nvPr/>
        </p:nvSpPr>
        <p:spPr>
          <a:xfrm>
            <a:off x="548640" y="1417320"/>
            <a:ext cx="5440680" cy="4754880"/>
          </a:xfrm>
          <a:prstGeom prst="roundRect">
            <a:avLst>
              <a:gd name="adj" fmla="val 1538"/>
            </a:avLst>
          </a:prstGeom>
          <a:solidFill>
            <a:schemeClr val="bg2"/>
          </a:solidFill>
          <a:ln w="12700">
            <a:solidFill>
              <a:schemeClr val="bg2"/>
            </a:solidFill>
            <a:prstDash val="solid"/>
          </a:ln>
        </p:spPr>
      </p:sp>
      <p:sp>
        <p:nvSpPr>
          <p:cNvPr id="5" name="card mark Limitations"/>
          <p:cNvSpPr/>
          <p:nvPr/>
        </p:nvSpPr>
        <p:spPr>
          <a:xfrm>
            <a:off x="731520" y="1618488"/>
            <a:ext cx="457200" cy="64008"/>
          </a:xfrm>
          <a:prstGeom prst="rect">
            <a:avLst/>
          </a:prstGeom>
          <a:solidFill>
            <a:schemeClr val="accent2"/>
          </a:solidFill>
          <a:ln w="12700">
            <a:solidFill>
              <a:schemeClr val="accent2"/>
            </a:solidFill>
            <a:prstDash val="solid"/>
          </a:ln>
        </p:spPr>
      </p:sp>
      <p:sp>
        <p:nvSpPr>
          <p:cNvPr id="6" name="card head Limitations"/>
          <p:cNvSpPr txBox="1"/>
          <p:nvPr/>
        </p:nvSpPr>
        <p:spPr>
          <a:xfrm>
            <a:off x="731520" y="1764792"/>
            <a:ext cx="507492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Limitations</a:t>
            </a:r>
            <a:endParaRPr lang="en-US" sz="1700" dirty="0"/>
          </a:p>
        </p:txBody>
      </p:sp>
      <p:sp>
        <p:nvSpPr>
          <p:cNvPr id="7" name="card body Limitations"/>
          <p:cNvSpPr txBox="1"/>
          <p:nvPr/>
        </p:nvSpPr>
        <p:spPr>
          <a:xfrm>
            <a:off x="731520" y="2221992"/>
            <a:ext cx="5074920" cy="3840480"/>
          </a:xfrm>
          <a:prstGeom prst="rect">
            <a:avLst/>
          </a:prstGeom>
          <a:noFill/>
          <a:ln/>
        </p:spPr>
        <p:txBody>
          <a:bodyPr wrap="square" lIns="0" tIns="0" rIns="0" bIns="0" rtlCol="0" anchor="t"/>
          <a:lstStyle/>
          <a:p>
            <a:pPr indent="0" marL="0">
              <a:spcAft>
                <a:spcPts val="1000"/>
              </a:spcAft>
              <a:buNone/>
            </a:pPr>
            <a:r>
              <a:rPr lang="en-US" sz="1700" dirty="0">
                <a:solidFill>
                  <a:schemeClr val="tx1"/>
                </a:solidFill>
              </a:rPr>
              <a:t>• One machine: Spark in local mode, all shards on one host.</a:t>
            </a:r>
            <a:endParaRPr lang="en-US" sz="1700" dirty="0"/>
          </a:p>
          <a:p>
            <a:pPr indent="0" marL="0">
              <a:spcAft>
                <a:spcPts val="1000"/>
              </a:spcAft>
              <a:buNone/>
            </a:pPr>
            <a:r>
              <a:rPr lang="en-US" sz="1700" dirty="0">
                <a:solidFill>
                  <a:schemeClr val="tx1"/>
                </a:solidFill>
              </a:rPr>
              <a:t>• Batch, not real time.</a:t>
            </a:r>
            <a:endParaRPr lang="en-US" sz="1700" dirty="0"/>
          </a:p>
          <a:p>
            <a:pPr indent="0" marL="0">
              <a:spcAft>
                <a:spcPts val="1000"/>
              </a:spcAft>
              <a:buNone/>
            </a:pPr>
            <a:r>
              <a:rPr lang="en-US" sz="1700" dirty="0">
                <a:solidFill>
                  <a:schemeClr val="tx1"/>
                </a:solidFill>
              </a:rPr>
              <a:t>• Troll-account archive, not public opinion.</a:t>
            </a:r>
            <a:endParaRPr lang="en-US" sz="1700" dirty="0"/>
          </a:p>
          <a:p>
            <a:pPr indent="0" marL="0">
              <a:spcAft>
                <a:spcPts val="1000"/>
              </a:spcAft>
              <a:buNone/>
            </a:pPr>
            <a:r>
              <a:rPr lang="en-US" sz="1700" dirty="0">
                <a:solidFill>
                  <a:schemeClr val="tx1"/>
                </a:solidFill>
              </a:rPr>
              <a:t>• Engagement is synthetic and flagged.</a:t>
            </a:r>
            <a:endParaRPr lang="en-US" sz="1700" dirty="0"/>
          </a:p>
          <a:p>
            <a:pPr indent="0" marL="0">
              <a:spcAft>
                <a:spcPts val="1000"/>
              </a:spcAft>
              <a:buNone/>
            </a:pPr>
            <a:r>
              <a:rPr lang="en-US" sz="1700" dirty="0">
                <a:solidFill>
                  <a:schemeClr val="tx1"/>
                </a:solidFill>
              </a:rPr>
              <a:t>• Sentiment: English only, macro-F1 0.58, not validated on this data.</a:t>
            </a:r>
            <a:endParaRPr lang="en-US" sz="1700" dirty="0"/>
          </a:p>
          <a:p>
            <a:pPr indent="0" marL="0">
              <a:spcAft>
                <a:spcPts val="1000"/>
              </a:spcAft>
              <a:buNone/>
            </a:pPr>
            <a:r>
              <a:rPr lang="en-US" sz="1700" dirty="0">
                <a:solidFill>
                  <a:schemeClr val="tx1"/>
                </a:solidFill>
              </a:rPr>
              <a:t>• Two thirds of posts have no topic at the chosen threshold.</a:t>
            </a:r>
            <a:endParaRPr lang="en-US" sz="1700" dirty="0"/>
          </a:p>
          <a:p>
            <a:pPr indent="0" marL="0">
              <a:spcAft>
                <a:spcPts val="1000"/>
              </a:spcAft>
              <a:buNone/>
            </a:pPr>
            <a:r>
              <a:rPr lang="en-US" sz="1700" dirty="0">
                <a:solidFill>
                  <a:schemeClr val="tx1"/>
                </a:solidFill>
              </a:rPr>
              <a:t>• No API authentication: local use only.</a:t>
            </a:r>
            <a:endParaRPr lang="en-US" sz="1700" dirty="0"/>
          </a:p>
        </p:txBody>
      </p:sp>
      <p:sp>
        <p:nvSpPr>
          <p:cNvPr id="8" name="card Future scope"/>
          <p:cNvSpPr/>
          <p:nvPr/>
        </p:nvSpPr>
        <p:spPr>
          <a:xfrm>
            <a:off x="6172200" y="1417320"/>
            <a:ext cx="5440680" cy="4754880"/>
          </a:xfrm>
          <a:prstGeom prst="roundRect">
            <a:avLst>
              <a:gd name="adj" fmla="val 1538"/>
            </a:avLst>
          </a:prstGeom>
          <a:solidFill>
            <a:schemeClr val="bg2"/>
          </a:solidFill>
          <a:ln w="12700">
            <a:solidFill>
              <a:schemeClr val="bg2"/>
            </a:solidFill>
            <a:prstDash val="solid"/>
          </a:ln>
        </p:spPr>
      </p:sp>
      <p:sp>
        <p:nvSpPr>
          <p:cNvPr id="9" name="card mark Future scope"/>
          <p:cNvSpPr/>
          <p:nvPr/>
        </p:nvSpPr>
        <p:spPr>
          <a:xfrm>
            <a:off x="6355080" y="1618488"/>
            <a:ext cx="457200" cy="64008"/>
          </a:xfrm>
          <a:prstGeom prst="rect">
            <a:avLst/>
          </a:prstGeom>
          <a:solidFill>
            <a:schemeClr val="accent3"/>
          </a:solidFill>
          <a:ln w="12700">
            <a:solidFill>
              <a:schemeClr val="accent3"/>
            </a:solidFill>
            <a:prstDash val="solid"/>
          </a:ln>
        </p:spPr>
      </p:sp>
      <p:sp>
        <p:nvSpPr>
          <p:cNvPr id="10" name="card head Future scope"/>
          <p:cNvSpPr txBox="1"/>
          <p:nvPr/>
        </p:nvSpPr>
        <p:spPr>
          <a:xfrm>
            <a:off x="6355080" y="1764792"/>
            <a:ext cx="507492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Future scope</a:t>
            </a:r>
            <a:endParaRPr lang="en-US" sz="1700" dirty="0"/>
          </a:p>
        </p:txBody>
      </p:sp>
      <p:sp>
        <p:nvSpPr>
          <p:cNvPr id="11" name="card body Future scope"/>
          <p:cNvSpPr txBox="1"/>
          <p:nvPr/>
        </p:nvSpPr>
        <p:spPr>
          <a:xfrm>
            <a:off x="6355080" y="2221992"/>
            <a:ext cx="5074920" cy="3840480"/>
          </a:xfrm>
          <a:prstGeom prst="rect">
            <a:avLst/>
          </a:prstGeom>
          <a:noFill/>
          <a:ln/>
        </p:spPr>
        <p:txBody>
          <a:bodyPr wrap="square" lIns="0" tIns="0" rIns="0" bIns="0" rtlCol="0" anchor="t"/>
          <a:lstStyle/>
          <a:p>
            <a:pPr indent="0" marL="0">
              <a:spcAft>
                <a:spcPts val="1000"/>
              </a:spcAft>
              <a:buNone/>
            </a:pPr>
            <a:r>
              <a:rPr lang="en-US" sz="1700" dirty="0">
                <a:solidFill>
                  <a:schemeClr val="tx1"/>
                </a:solidFill>
              </a:rPr>
              <a:t>• Transformer sentiment (Twitter RoBERTa) on a GPU.</a:t>
            </a:r>
            <a:endParaRPr lang="en-US" sz="1700" dirty="0"/>
          </a:p>
          <a:p>
            <a:pPr indent="0" marL="0">
              <a:spcAft>
                <a:spcPts val="1000"/>
              </a:spcAft>
              <a:buNone/>
            </a:pPr>
            <a:r>
              <a:rPr lang="en-US" sz="1700" dirty="0">
                <a:solidFill>
                  <a:schemeClr val="tx1"/>
                </a:solidFill>
              </a:rPr>
              <a:t>• BERTopic or coherence-chosen topic counts.</a:t>
            </a:r>
            <a:endParaRPr lang="en-US" sz="1700" dirty="0"/>
          </a:p>
          <a:p>
            <a:pPr indent="0" marL="0">
              <a:spcAft>
                <a:spcPts val="1000"/>
              </a:spcAft>
              <a:buNone/>
            </a:pPr>
            <a:r>
              <a:rPr lang="en-US" sz="1700" dirty="0">
                <a:solidFill>
                  <a:schemeClr val="tx1"/>
                </a:solidFill>
              </a:rPr>
              <a:t>• Multi-node Spark on YARN or Kubernetes.</a:t>
            </a:r>
            <a:endParaRPr lang="en-US" sz="1700" dirty="0"/>
          </a:p>
          <a:p>
            <a:pPr indent="0" marL="0">
              <a:spcAft>
                <a:spcPts val="1000"/>
              </a:spcAft>
              <a:buNone/>
            </a:pPr>
            <a:r>
              <a:rPr lang="en-US" sz="1700" dirty="0">
                <a:solidFill>
                  <a:schemeClr val="tx1"/>
                </a:solidFill>
              </a:rPr>
              <a:t>• Kafka with Spark Structured Streaming.</a:t>
            </a:r>
            <a:endParaRPr lang="en-US" sz="1700" dirty="0"/>
          </a:p>
          <a:p>
            <a:pPr indent="0" marL="0">
              <a:spcAft>
                <a:spcPts val="1000"/>
              </a:spcAft>
              <a:buNone/>
            </a:pPr>
            <a:r>
              <a:rPr lang="en-US" sz="1700" dirty="0">
                <a:solidFill>
                  <a:schemeClr val="tx1"/>
                </a:solidFill>
              </a:rPr>
              <a:t>• Replica sets on separate hosts with a failover test.</a:t>
            </a:r>
            <a:endParaRPr lang="en-US" sz="1700" dirty="0"/>
          </a:p>
          <a:p>
            <a:pPr indent="0" marL="0">
              <a:spcAft>
                <a:spcPts val="1000"/>
              </a:spcAft>
              <a:buNone/>
            </a:pPr>
            <a:r>
              <a:rPr lang="en-US" sz="1700" dirty="0">
                <a:solidFill>
                  <a:schemeClr val="tx1"/>
                </a:solidFill>
              </a:rPr>
              <a:t>• Spark MLlib versions of the models.</a:t>
            </a:r>
            <a:endParaRPr lang="en-US" sz="1700" dirty="0"/>
          </a:p>
          <a:p>
            <a:pPr indent="0" marL="0">
              <a:spcAft>
                <a:spcPts val="1000"/>
              </a:spcAft>
              <a:buNone/>
            </a:pPr>
            <a:r>
              <a:rPr lang="en-US" sz="1700" dirty="0">
                <a:solidFill>
                  <a:schemeClr val="tx1"/>
                </a:solidFill>
              </a:rPr>
              <a:t>• Retweet and mention network analysis.</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2468880"/>
            <a:ext cx="10698480" cy="1097280"/>
          </a:xfrm>
          <a:prstGeom prst="rect">
            <a:avLst/>
          </a:prstGeom>
          <a:noFill/>
          <a:ln/>
        </p:spPr>
        <p:txBody>
          <a:bodyPr wrap="square" lIns="0" tIns="0" rIns="0" bIns="0" rtlCol="0" anchor="b"/>
          <a:lstStyle/>
          <a:p>
            <a:pPr algn="l" indent="0" marL="0">
              <a:buNone/>
            </a:pPr>
            <a:r>
              <a:rPr lang="en-US" sz="4000" b="1" dirty="0">
                <a:solidFill>
                  <a:schemeClr val="bg1"/>
                </a:solidFill>
              </a:rPr>
              <a:t>Conclusion</a:t>
            </a:r>
            <a:endParaRPr lang="en-US" sz="4000" dirty="0"/>
          </a:p>
        </p:txBody>
      </p:sp>
      <p:sp>
        <p:nvSpPr>
          <p:cNvPr id="3" name="Text 0"/>
          <p:cNvSpPr/>
          <p:nvPr>
            <p:ph idx="101" type="body" hasCustomPrompt="1"/>
          </p:nvPr>
        </p:nvSpPr>
        <p:spPr>
          <a:xfrm>
            <a:off x="731520" y="3703320"/>
            <a:ext cx="10058400" cy="1097280"/>
          </a:xfrm>
          <a:prstGeom prst="rect">
            <a:avLst/>
          </a:prstGeom>
          <a:noFill/>
          <a:ln/>
        </p:spPr>
        <p:txBody>
          <a:bodyPr wrap="square" lIns="0" tIns="0" rIns="0" bIns="0" rtlCol="0" anchor="t"/>
          <a:lstStyle/>
          <a:p>
            <a:pPr algn="l" indent="0" marL="0">
              <a:buNone/>
            </a:pPr>
            <a:r>
              <a:rPr lang="en-US" sz="1800" dirty="0">
                <a:solidFill>
                  <a:schemeClr val="bg2"/>
                </a:solidFill>
              </a:rPr>
              <a:t>Streaming, bulk writes, matched indexes, in-database aggregation and pre-aggregation make 2.94M posts interactive on one machine. Spark, a partitioned Parquet lake and sharding add the distributed side, and every claim is measured.</a:t>
            </a:r>
            <a:endParaRPr lang="en-US" sz="1800" dirty="0"/>
          </a:p>
        </p:txBody>
      </p:sp>
      <p:sp>
        <p:nvSpPr>
          <p:cNvPr id="4" name="divider mark"/>
          <p:cNvSpPr/>
          <p:nvPr/>
        </p:nvSpPr>
        <p:spPr>
          <a:xfrm>
            <a:off x="731520" y="2240280"/>
            <a:ext cx="822960" cy="82296"/>
          </a:xfrm>
          <a:prstGeom prst="rect">
            <a:avLst/>
          </a:prstGeom>
          <a:solidFill>
            <a:schemeClr val="accent2"/>
          </a:solidFill>
          <a:ln w="12700">
            <a:solidFill>
              <a:schemeClr val="accent2"/>
            </a:solidFill>
            <a:prstDash val="solid"/>
          </a:ln>
        </p:spPr>
      </p:sp>
      <p:sp>
        <p:nvSpPr>
          <p:cNvPr id="5" name="thanks"/>
          <p:cNvSpPr txBox="1"/>
          <p:nvPr/>
        </p:nvSpPr>
        <p:spPr>
          <a:xfrm>
            <a:off x="731520" y="4983480"/>
            <a:ext cx="10515600" cy="1005840"/>
          </a:xfrm>
          <a:prstGeom prst="rect">
            <a:avLst/>
          </a:prstGeom>
          <a:noFill/>
          <a:ln/>
        </p:spPr>
        <p:txBody>
          <a:bodyPr wrap="square" lIns="0" tIns="0" rIns="0" bIns="0" rtlCol="0" anchor="t"/>
          <a:lstStyle/>
          <a:p>
            <a:pPr indent="0" marL="0">
              <a:buNone/>
            </a:pPr>
            <a:r>
              <a:rPr lang="en-US" sz="1500" b="1" dirty="0">
                <a:solidFill>
                  <a:schemeClr val="bg1"/>
                </a:solidFill>
              </a:rPr>
              <a:t>Thank you · Sahaj Saliya (23BIT128) · Hil Kalathiya (23BIT092)</a:t>
            </a:r>
            <a:endParaRPr lang="en-US" sz="1500" dirty="0"/>
          </a:p>
          <a:p>
            <a:pPr indent="0" marL="0">
              <a:buNone/>
            </a:pPr>
            <a:r>
              <a:rPr lang="en-US" sz="1500" u="sng" dirty="0">
                <a:solidFill>
                  <a:schemeClr val="accent4"/>
                </a:solidFill>
                <a:hlinkClick r:id="rId1" invalidUrl="" action="" tgtFrame="" tooltip="" history="1" highlightClick="0" endSnd="0">
                  <a:extLst>
                    <a:ext uri="{A12FA001-AC4F-418D-AE19-62706E023703}">
                      <ahyp:hlinkClr xmlns:ahyp="http://schemas.microsoft.com/office/drawing/2018/hyperlinkcolor" val="tx"/>
                    </a:ext>
                  </a:extLst>
                </a:hlinkClick>
              </a:rPr>
              <a:t>Live site: info.sahaj.si/BDA-Analytics</a:t>
            </a:r>
            <a:endParaRPr lang="en-US" sz="1500" dirty="0"/>
          </a:p>
          <a:p>
            <a:pPr indent="0" marL="0">
              <a:buNone/>
            </a:pPr>
            <a:r>
              <a:rPr lang="en-US" sz="1500" u="sng" dirty="0">
                <a:solidFill>
                  <a:schemeClr val="accent4"/>
                </a:solidFill>
                <a:hlinkClick r:id="rId2" invalidUrl="" action="" tgtFrame="" tooltip="" history="1" highlightClick="0" endSnd="0">
                  <a:extLst>
                    <a:ext uri="{A12FA001-AC4F-418D-AE19-62706E023703}">
                      <ahyp:hlinkClr xmlns:ahyp="http://schemas.microsoft.com/office/drawing/2018/hyperlinkcolor" val="tx"/>
                    </a:ext>
                  </a:extLst>
                </a:hlinkClick>
              </a:rPr>
              <a:t>Code: github.com/SahajIVVIX-1/BDA-Analytics</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BDA Analytics">
  <a:themeElements>
    <a:clrScheme name="BDA Analytics">
      <a:dk1>
        <a:srgbClr val="1F2328"/>
      </a:dk1>
      <a:lt1>
        <a:srgbClr val="FFFFFF"/>
      </a:lt1>
      <a:dk2>
        <a:srgbClr val="0F4C5C"/>
      </a:dk2>
      <a:lt2>
        <a:srgbClr val="F4F1EA"/>
      </a:lt2>
      <a:accent1>
        <a:srgbClr val="0F4C5C"/>
      </a:accent1>
      <a:accent2>
        <a:srgbClr val="C2410C"/>
      </a:accent2>
      <a:accent3>
        <a:srgbClr val="2A9D8F"/>
      </a:accent3>
      <a:accent4>
        <a:srgbClr val="E9C46A"/>
      </a:accent4>
      <a:accent5>
        <a:srgbClr val="6B7280"/>
      </a:accent5>
      <a:accent6>
        <a:srgbClr val="264653"/>
      </a:accent6>
      <a:hlink>
        <a:srgbClr val="0F766E"/>
      </a:hlink>
      <a:folHlink>
        <a:srgbClr val="7C3AED"/>
      </a:folHlink>
    </a:clrScheme>
    <a:fontScheme name="BDA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Department of Information and Communication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Large-Scale Social Media Sentiment and Trend Analytics Using MongoDB</dc:title>
  <dc:subject>Big Data Analytics course project</dc:subject>
  <dc:creator>Sahaj Saliya, Hil Kalathiya</dc:creator>
  <cp:lastModifiedBy>Sahaj Saliya, Hil Kalathiya</cp:lastModifiedBy>
  <cp:revision>1</cp:revision>
  <dcterms:created xsi:type="dcterms:W3CDTF">2026-10-16T13:37:59Z</dcterms:created>
  <dcterms:modified xsi:type="dcterms:W3CDTF">2026-10-16T13:37:59Z</dcterms:modified>
</cp:coreProperties>
</file>